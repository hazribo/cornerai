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7" r:id="rId1"/>
  </p:sldMasterIdLst>
  <p:sldIdLst>
    <p:sldId id="256" r:id="rId2"/>
  </p:sldIdLst>
  <p:sldSz cx="21383625" cy="3027521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58" userDrawn="1">
          <p15:clr>
            <a:srgbClr val="A4A3A4"/>
          </p15:clr>
        </p15:guide>
        <p15:guide id="2" pos="6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068" autoAdjust="0"/>
  </p:normalViewPr>
  <p:slideViewPr>
    <p:cSldViewPr snapToGrid="0">
      <p:cViewPr>
        <p:scale>
          <a:sx n="20" d="100"/>
          <a:sy n="20" d="100"/>
        </p:scale>
        <p:origin x="3420" y="366"/>
      </p:cViewPr>
      <p:guideLst>
        <p:guide orient="horz" pos="9558"/>
        <p:guide pos="67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CCEEA-9B70-67C1-CB60-12AA261B7203}"/>
              </a:ext>
            </a:extLst>
          </p:cNvPr>
          <p:cNvSpPr>
            <a:spLocks noGrp="1"/>
          </p:cNvSpPr>
          <p:nvPr>
            <p:ph type="ctrTitle"/>
          </p:nvPr>
        </p:nvSpPr>
        <p:spPr>
          <a:xfrm>
            <a:off x="2672953" y="4954765"/>
            <a:ext cx="16037719" cy="10540259"/>
          </a:xfrm>
        </p:spPr>
        <p:txBody>
          <a:bodyPr anchor="b"/>
          <a:lstStyle>
            <a:lvl1pPr algn="ctr">
              <a:defRPr sz="10523"/>
            </a:lvl1pPr>
          </a:lstStyle>
          <a:p>
            <a:r>
              <a:rPr lang="en-US"/>
              <a:t>Click to edit Master title style</a:t>
            </a:r>
            <a:endParaRPr lang="en-GB"/>
          </a:p>
        </p:txBody>
      </p:sp>
      <p:sp>
        <p:nvSpPr>
          <p:cNvPr id="3" name="Subtitle 2">
            <a:extLst>
              <a:ext uri="{FF2B5EF4-FFF2-40B4-BE49-F238E27FC236}">
                <a16:creationId xmlns:a16="http://schemas.microsoft.com/office/drawing/2014/main" id="{5A2424E3-BF94-D9A0-EF88-3D66C3FA3E76}"/>
              </a:ext>
            </a:extLst>
          </p:cNvPr>
          <p:cNvSpPr>
            <a:spLocks noGrp="1"/>
          </p:cNvSpPr>
          <p:nvPr>
            <p:ph type="subTitle" idx="1"/>
          </p:nvPr>
        </p:nvSpPr>
        <p:spPr>
          <a:xfrm>
            <a:off x="2672953" y="15901497"/>
            <a:ext cx="16037719" cy="7309499"/>
          </a:xfrm>
        </p:spPr>
        <p:txBody>
          <a:bodyPr/>
          <a:lstStyle>
            <a:lvl1pPr marL="0" indent="0" algn="ctr">
              <a:buNone/>
              <a:defRPr sz="4209"/>
            </a:lvl1pPr>
            <a:lvl2pPr marL="801883" indent="0" algn="ctr">
              <a:buNone/>
              <a:defRPr sz="3508"/>
            </a:lvl2pPr>
            <a:lvl3pPr marL="1603766" indent="0" algn="ctr">
              <a:buNone/>
              <a:defRPr sz="3157"/>
            </a:lvl3pPr>
            <a:lvl4pPr marL="2405649" indent="0" algn="ctr">
              <a:buNone/>
              <a:defRPr sz="2806"/>
            </a:lvl4pPr>
            <a:lvl5pPr marL="3207532" indent="0" algn="ctr">
              <a:buNone/>
              <a:defRPr sz="2806"/>
            </a:lvl5pPr>
            <a:lvl6pPr marL="4009415" indent="0" algn="ctr">
              <a:buNone/>
              <a:defRPr sz="2806"/>
            </a:lvl6pPr>
            <a:lvl7pPr marL="4811298" indent="0" algn="ctr">
              <a:buNone/>
              <a:defRPr sz="2806"/>
            </a:lvl7pPr>
            <a:lvl8pPr marL="5613182" indent="0" algn="ctr">
              <a:buNone/>
              <a:defRPr sz="2806"/>
            </a:lvl8pPr>
            <a:lvl9pPr marL="6415065" indent="0" algn="ctr">
              <a:buNone/>
              <a:defRPr sz="2806"/>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FB5DFF4-F4B2-9E2F-9DDF-E7FCCC4454BD}"/>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51BA90D3-9F10-3119-429D-3FE956BCA6E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53B3236-179F-7670-984F-191B312A667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636440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C0CF9-38AB-F942-97CB-C7811D03080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11EDEB0-B999-E818-6D2D-E6EB36BA3B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ECF2030-ACBE-D773-6E45-63EC91C2B561}"/>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93106C5-E24B-D771-8570-60EE632A72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F7496C-E2EC-CC59-182B-B41A94C6C46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572287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902F-F021-6E91-B680-8EBC83BE0EB5}"/>
              </a:ext>
            </a:extLst>
          </p:cNvPr>
          <p:cNvSpPr>
            <a:spLocks noGrp="1"/>
          </p:cNvSpPr>
          <p:nvPr>
            <p:ph type="title"/>
          </p:nvPr>
        </p:nvSpPr>
        <p:spPr>
          <a:xfrm>
            <a:off x="1458987" y="7547783"/>
            <a:ext cx="18443377" cy="12593645"/>
          </a:xfrm>
        </p:spPr>
        <p:txBody>
          <a:bodyPr anchor="b"/>
          <a:lstStyle>
            <a:lvl1pPr>
              <a:defRPr sz="10523"/>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554AD15-F00E-CADC-0CE3-FDB477E47F2B}"/>
              </a:ext>
            </a:extLst>
          </p:cNvPr>
          <p:cNvSpPr>
            <a:spLocks noGrp="1"/>
          </p:cNvSpPr>
          <p:nvPr>
            <p:ph type="body" idx="1"/>
          </p:nvPr>
        </p:nvSpPr>
        <p:spPr>
          <a:xfrm>
            <a:off x="1458987" y="20260569"/>
            <a:ext cx="18443377" cy="6622701"/>
          </a:xfrm>
        </p:spPr>
        <p:txBody>
          <a:bodyPr/>
          <a:lstStyle>
            <a:lvl1pPr marL="0" indent="0">
              <a:buNone/>
              <a:defRPr sz="4209">
                <a:solidFill>
                  <a:schemeClr val="tx1">
                    <a:tint val="82000"/>
                  </a:schemeClr>
                </a:solidFill>
              </a:defRPr>
            </a:lvl1pPr>
            <a:lvl2pPr marL="801883" indent="0">
              <a:buNone/>
              <a:defRPr sz="3508">
                <a:solidFill>
                  <a:schemeClr val="tx1">
                    <a:tint val="82000"/>
                  </a:schemeClr>
                </a:solidFill>
              </a:defRPr>
            </a:lvl2pPr>
            <a:lvl3pPr marL="1603766" indent="0">
              <a:buNone/>
              <a:defRPr sz="3157">
                <a:solidFill>
                  <a:schemeClr val="tx1">
                    <a:tint val="82000"/>
                  </a:schemeClr>
                </a:solidFill>
              </a:defRPr>
            </a:lvl3pPr>
            <a:lvl4pPr marL="2405649" indent="0">
              <a:buNone/>
              <a:defRPr sz="2806">
                <a:solidFill>
                  <a:schemeClr val="tx1">
                    <a:tint val="82000"/>
                  </a:schemeClr>
                </a:solidFill>
              </a:defRPr>
            </a:lvl4pPr>
            <a:lvl5pPr marL="3207532" indent="0">
              <a:buNone/>
              <a:defRPr sz="2806">
                <a:solidFill>
                  <a:schemeClr val="tx1">
                    <a:tint val="82000"/>
                  </a:schemeClr>
                </a:solidFill>
              </a:defRPr>
            </a:lvl5pPr>
            <a:lvl6pPr marL="4009415" indent="0">
              <a:buNone/>
              <a:defRPr sz="2806">
                <a:solidFill>
                  <a:schemeClr val="tx1">
                    <a:tint val="82000"/>
                  </a:schemeClr>
                </a:solidFill>
              </a:defRPr>
            </a:lvl6pPr>
            <a:lvl7pPr marL="4811298" indent="0">
              <a:buNone/>
              <a:defRPr sz="2806">
                <a:solidFill>
                  <a:schemeClr val="tx1">
                    <a:tint val="82000"/>
                  </a:schemeClr>
                </a:solidFill>
              </a:defRPr>
            </a:lvl7pPr>
            <a:lvl8pPr marL="5613182" indent="0">
              <a:buNone/>
              <a:defRPr sz="2806">
                <a:solidFill>
                  <a:schemeClr val="tx1">
                    <a:tint val="82000"/>
                  </a:schemeClr>
                </a:solidFill>
              </a:defRPr>
            </a:lvl8pPr>
            <a:lvl9pPr marL="6415065" indent="0">
              <a:buNone/>
              <a:defRPr sz="2806">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1C4251F-C079-81CB-999D-40F2C4804BEE}"/>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F13C8CB-6712-998A-FA8A-6873E45876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BC0ED2-8C89-E862-F632-167E061CDE17}"/>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82506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4C796-7107-BC28-4686-0419DDB3401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B9B1EF-44F0-1938-C074-B499B14924E3}"/>
              </a:ext>
            </a:extLst>
          </p:cNvPr>
          <p:cNvSpPr>
            <a:spLocks noGrp="1"/>
          </p:cNvSpPr>
          <p:nvPr>
            <p:ph sz="half" idx="1"/>
          </p:nvPr>
        </p:nvSpPr>
        <p:spPr>
          <a:xfrm>
            <a:off x="1470124"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50BEDF8-8015-E361-8E8D-7CC6AE50842E}"/>
              </a:ext>
            </a:extLst>
          </p:cNvPr>
          <p:cNvSpPr>
            <a:spLocks noGrp="1"/>
          </p:cNvSpPr>
          <p:nvPr>
            <p:ph sz="half" idx="2"/>
          </p:nvPr>
        </p:nvSpPr>
        <p:spPr>
          <a:xfrm>
            <a:off x="10825460"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43203AC-F086-BDE5-C070-F643660D56DB}"/>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A57B9F6D-40CB-329B-D5B3-EA6DC3EEA2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402B21-132C-B227-F585-FB8B4EA9BB6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32983454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CA925-0FEA-03CB-2337-760E29C25313}"/>
              </a:ext>
            </a:extLst>
          </p:cNvPr>
          <p:cNvSpPr>
            <a:spLocks noGrp="1"/>
          </p:cNvSpPr>
          <p:nvPr>
            <p:ph type="title"/>
          </p:nvPr>
        </p:nvSpPr>
        <p:spPr>
          <a:xfrm>
            <a:off x="1472909" y="1611877"/>
            <a:ext cx="18443377" cy="5851808"/>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13FCC2-14CA-F0E1-176D-1A87BFDC55F7}"/>
              </a:ext>
            </a:extLst>
          </p:cNvPr>
          <p:cNvSpPr>
            <a:spLocks noGrp="1"/>
          </p:cNvSpPr>
          <p:nvPr>
            <p:ph type="body" idx="1"/>
          </p:nvPr>
        </p:nvSpPr>
        <p:spPr>
          <a:xfrm>
            <a:off x="1472910" y="7421634"/>
            <a:ext cx="9046275"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4" name="Content Placeholder 3">
            <a:extLst>
              <a:ext uri="{FF2B5EF4-FFF2-40B4-BE49-F238E27FC236}">
                <a16:creationId xmlns:a16="http://schemas.microsoft.com/office/drawing/2014/main" id="{9316D2AB-9F11-66E3-E841-F228873E8878}"/>
              </a:ext>
            </a:extLst>
          </p:cNvPr>
          <p:cNvSpPr>
            <a:spLocks noGrp="1"/>
          </p:cNvSpPr>
          <p:nvPr>
            <p:ph sz="half" idx="2"/>
          </p:nvPr>
        </p:nvSpPr>
        <p:spPr>
          <a:xfrm>
            <a:off x="1472910" y="11058863"/>
            <a:ext cx="9046275"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D459D749-E31F-271B-38BA-545D2568B847}"/>
              </a:ext>
            </a:extLst>
          </p:cNvPr>
          <p:cNvSpPr>
            <a:spLocks noGrp="1"/>
          </p:cNvSpPr>
          <p:nvPr>
            <p:ph type="body" sz="quarter" idx="3"/>
          </p:nvPr>
        </p:nvSpPr>
        <p:spPr>
          <a:xfrm>
            <a:off x="10825460" y="7421634"/>
            <a:ext cx="9090826"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6" name="Content Placeholder 5">
            <a:extLst>
              <a:ext uri="{FF2B5EF4-FFF2-40B4-BE49-F238E27FC236}">
                <a16:creationId xmlns:a16="http://schemas.microsoft.com/office/drawing/2014/main" id="{4BABC1A5-80B9-CEDB-578F-8D473C99C1F1}"/>
              </a:ext>
            </a:extLst>
          </p:cNvPr>
          <p:cNvSpPr>
            <a:spLocks noGrp="1"/>
          </p:cNvSpPr>
          <p:nvPr>
            <p:ph sz="quarter" idx="4"/>
          </p:nvPr>
        </p:nvSpPr>
        <p:spPr>
          <a:xfrm>
            <a:off x="10825460" y="11058863"/>
            <a:ext cx="9090826"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01211F4-84D7-B0D0-7841-B882C1AD677B}"/>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8" name="Footer Placeholder 7">
            <a:extLst>
              <a:ext uri="{FF2B5EF4-FFF2-40B4-BE49-F238E27FC236}">
                <a16:creationId xmlns:a16="http://schemas.microsoft.com/office/drawing/2014/main" id="{D7F19878-3DEB-3B71-250A-242BC0F0C7C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CBC5C3-A80E-CA2C-EF9A-8FE9CDA1534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76503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17A62-3D0E-928E-135A-7B56C5D3EEC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D1CEA2F-2BA0-7496-FE88-81BDBF179F48}"/>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4" name="Footer Placeholder 3">
            <a:extLst>
              <a:ext uri="{FF2B5EF4-FFF2-40B4-BE49-F238E27FC236}">
                <a16:creationId xmlns:a16="http://schemas.microsoft.com/office/drawing/2014/main" id="{8B4DA1BC-F205-0089-7468-3547971B61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D2E7155-A605-52A7-C6C3-9F75DBB427DB}"/>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12845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EC689A-BAD4-5E15-AFED-B6B9B3D6ECC3}"/>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3" name="Footer Placeholder 2">
            <a:extLst>
              <a:ext uri="{FF2B5EF4-FFF2-40B4-BE49-F238E27FC236}">
                <a16:creationId xmlns:a16="http://schemas.microsoft.com/office/drawing/2014/main" id="{B35E623D-27BF-20C4-EDC2-26C41635B4A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3F939EE-45F4-9C9C-8E3D-D32EE471215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59712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06DC7-0FE8-C154-9394-49378161C0A9}"/>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8CC97E4-6E61-CBC8-5E0E-3FC9D8036D74}"/>
              </a:ext>
            </a:extLst>
          </p:cNvPr>
          <p:cNvSpPr>
            <a:spLocks noGrp="1"/>
          </p:cNvSpPr>
          <p:nvPr>
            <p:ph idx="1"/>
          </p:nvPr>
        </p:nvSpPr>
        <p:spPr>
          <a:xfrm>
            <a:off x="9090826" y="4359072"/>
            <a:ext cx="10825460" cy="21515024"/>
          </a:xfrm>
        </p:spPr>
        <p:txBody>
          <a:bodyPr/>
          <a:lstStyle>
            <a:lvl1pPr>
              <a:defRPr sz="5612"/>
            </a:lvl1pPr>
            <a:lvl2pPr>
              <a:defRPr sz="4911"/>
            </a:lvl2pPr>
            <a:lvl3pPr>
              <a:defRPr sz="4209"/>
            </a:lvl3pPr>
            <a:lvl4pPr>
              <a:defRPr sz="3508"/>
            </a:lvl4pPr>
            <a:lvl5pPr>
              <a:defRPr sz="3508"/>
            </a:lvl5pPr>
            <a:lvl6pPr>
              <a:defRPr sz="3508"/>
            </a:lvl6pPr>
            <a:lvl7pPr>
              <a:defRPr sz="3508"/>
            </a:lvl7pPr>
            <a:lvl8pPr>
              <a:defRPr sz="3508"/>
            </a:lvl8pPr>
            <a:lvl9pPr>
              <a:defRPr sz="350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B1AF2C-C891-EDA4-D6F5-8A42490E29D7}"/>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CD5A5E48-1EF0-57B5-386C-17947019ECE2}"/>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F558F90E-33FF-C0AB-566C-5FCE3944F9B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58EAD35-80AA-F094-D51C-8A4B6DEFAAA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29634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1581A-2F51-8CB3-4E79-9FEE19CFF456}"/>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FF349E6-C092-79CE-A819-B9EB7A85BE09}"/>
              </a:ext>
            </a:extLst>
          </p:cNvPr>
          <p:cNvSpPr>
            <a:spLocks noGrp="1"/>
          </p:cNvSpPr>
          <p:nvPr>
            <p:ph type="pic" idx="1"/>
          </p:nvPr>
        </p:nvSpPr>
        <p:spPr>
          <a:xfrm>
            <a:off x="9090826" y="4359072"/>
            <a:ext cx="10825460" cy="21515024"/>
          </a:xfrm>
        </p:spPr>
        <p:txBody>
          <a:bodyPr/>
          <a:lstStyle>
            <a:lvl1pPr marL="0" indent="0">
              <a:buNone/>
              <a:defRPr sz="5612"/>
            </a:lvl1pPr>
            <a:lvl2pPr marL="801883" indent="0">
              <a:buNone/>
              <a:defRPr sz="4911"/>
            </a:lvl2pPr>
            <a:lvl3pPr marL="1603766" indent="0">
              <a:buNone/>
              <a:defRPr sz="4209"/>
            </a:lvl3pPr>
            <a:lvl4pPr marL="2405649" indent="0">
              <a:buNone/>
              <a:defRPr sz="3508"/>
            </a:lvl4pPr>
            <a:lvl5pPr marL="3207532" indent="0">
              <a:buNone/>
              <a:defRPr sz="3508"/>
            </a:lvl5pPr>
            <a:lvl6pPr marL="4009415" indent="0">
              <a:buNone/>
              <a:defRPr sz="3508"/>
            </a:lvl6pPr>
            <a:lvl7pPr marL="4811298" indent="0">
              <a:buNone/>
              <a:defRPr sz="3508"/>
            </a:lvl7pPr>
            <a:lvl8pPr marL="5613182" indent="0">
              <a:buNone/>
              <a:defRPr sz="3508"/>
            </a:lvl8pPr>
            <a:lvl9pPr marL="6415065" indent="0">
              <a:buNone/>
              <a:defRPr sz="3508"/>
            </a:lvl9pPr>
          </a:lstStyle>
          <a:p>
            <a:endParaRPr lang="en-GB"/>
          </a:p>
        </p:txBody>
      </p:sp>
      <p:sp>
        <p:nvSpPr>
          <p:cNvPr id="4" name="Text Placeholder 3">
            <a:extLst>
              <a:ext uri="{FF2B5EF4-FFF2-40B4-BE49-F238E27FC236}">
                <a16:creationId xmlns:a16="http://schemas.microsoft.com/office/drawing/2014/main" id="{EA5DD00C-134D-A046-3F54-57E310B55C99}"/>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E54FA8F2-5571-957E-C096-5A3BC78C503D}"/>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31AFC582-68C4-6D93-387D-CE99E979DA3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4527AA1-7A69-D253-90F4-C937E190B17D}"/>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047553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A5F7D-7513-46D5-5016-62E95B35252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9FF7FEE-E10E-F55B-4212-A655B0F122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664F9B-A265-D2A8-59BF-B6023AD360F6}"/>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0CB45C53-B838-A57F-6EDE-8E3CF5F493F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C7809-10A9-3204-4045-1D085E6DF39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78794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F5908-9AEF-BC2B-455B-B057A05E193F}"/>
              </a:ext>
            </a:extLst>
          </p:cNvPr>
          <p:cNvSpPr>
            <a:spLocks noGrp="1"/>
          </p:cNvSpPr>
          <p:nvPr>
            <p:ph type="title" orient="vert"/>
          </p:nvPr>
        </p:nvSpPr>
        <p:spPr>
          <a:xfrm>
            <a:off x="15302657" y="1611875"/>
            <a:ext cx="4610844" cy="2565684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0D0F950-D766-6405-AE70-90B2F60EE184}"/>
              </a:ext>
            </a:extLst>
          </p:cNvPr>
          <p:cNvSpPr>
            <a:spLocks noGrp="1"/>
          </p:cNvSpPr>
          <p:nvPr>
            <p:ph type="body" orient="vert" idx="1"/>
          </p:nvPr>
        </p:nvSpPr>
        <p:spPr>
          <a:xfrm>
            <a:off x="1470124" y="1611875"/>
            <a:ext cx="13565237"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AEC6FA-A34C-317B-BC39-026416572815}"/>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6C8CEF44-AD43-EE2C-23EE-CC2AB7DDAA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8D5481-CDD3-18C6-C796-43EA0AA2FD5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1030829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D995287-A1E0-F817-0161-C5323D4624AE}"/>
              </a:ext>
            </a:extLst>
          </p:cNvPr>
          <p:cNvSpPr>
            <a:spLocks noGrp="1"/>
          </p:cNvSpPr>
          <p:nvPr>
            <p:ph type="title"/>
          </p:nvPr>
        </p:nvSpPr>
        <p:spPr>
          <a:xfrm>
            <a:off x="1470124" y="1611877"/>
            <a:ext cx="18443377" cy="5851808"/>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5C4C22-266C-E1DA-75A6-72C02667B948}"/>
              </a:ext>
            </a:extLst>
          </p:cNvPr>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AA99639-CDF6-7946-3993-E2EB81B2826E}"/>
              </a:ext>
            </a:extLst>
          </p:cNvPr>
          <p:cNvSpPr>
            <a:spLocks noGrp="1"/>
          </p:cNvSpPr>
          <p:nvPr>
            <p:ph type="dt" sz="half" idx="2"/>
          </p:nvPr>
        </p:nvSpPr>
        <p:spPr>
          <a:xfrm>
            <a:off x="1470124" y="28060639"/>
            <a:ext cx="4811316" cy="1611875"/>
          </a:xfrm>
          <a:prstGeom prst="rect">
            <a:avLst/>
          </a:prstGeom>
        </p:spPr>
        <p:txBody>
          <a:bodyPr vert="horz" lIns="91440" tIns="45720" rIns="91440" bIns="45720" rtlCol="0" anchor="ctr"/>
          <a:lstStyle>
            <a:lvl1pPr algn="l">
              <a:defRPr sz="2105">
                <a:solidFill>
                  <a:schemeClr val="tx1">
                    <a:tint val="82000"/>
                  </a:schemeClr>
                </a:solidFill>
              </a:defRPr>
            </a:lvl1p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3BEE713-4544-69F4-771A-B54A44D5E110}"/>
              </a:ext>
            </a:extLst>
          </p:cNvPr>
          <p:cNvSpPr>
            <a:spLocks noGrp="1"/>
          </p:cNvSpPr>
          <p:nvPr>
            <p:ph type="ftr" sz="quarter" idx="3"/>
          </p:nvPr>
        </p:nvSpPr>
        <p:spPr>
          <a:xfrm>
            <a:off x="7083326" y="28060639"/>
            <a:ext cx="7216973" cy="1611875"/>
          </a:xfrm>
          <a:prstGeom prst="rect">
            <a:avLst/>
          </a:prstGeom>
        </p:spPr>
        <p:txBody>
          <a:bodyPr vert="horz" lIns="91440" tIns="45720" rIns="91440" bIns="45720" rtlCol="0" anchor="ctr"/>
          <a:lstStyle>
            <a:lvl1pPr algn="ctr">
              <a:defRPr sz="210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9F6F6DF-40DA-1CC9-066F-E45398183BCC}"/>
              </a:ext>
            </a:extLst>
          </p:cNvPr>
          <p:cNvSpPr>
            <a:spLocks noGrp="1"/>
          </p:cNvSpPr>
          <p:nvPr>
            <p:ph type="sldNum" sz="quarter" idx="4"/>
          </p:nvPr>
        </p:nvSpPr>
        <p:spPr>
          <a:xfrm>
            <a:off x="15102185" y="28060639"/>
            <a:ext cx="4811316" cy="1611875"/>
          </a:xfrm>
          <a:prstGeom prst="rect">
            <a:avLst/>
          </a:prstGeom>
        </p:spPr>
        <p:txBody>
          <a:bodyPr vert="horz" lIns="91440" tIns="45720" rIns="91440" bIns="45720" rtlCol="0" anchor="ctr"/>
          <a:lstStyle>
            <a:lvl1pPr algn="r">
              <a:defRPr sz="2105">
                <a:solidFill>
                  <a:schemeClr val="tx1">
                    <a:tint val="82000"/>
                  </a:schemeClr>
                </a:solidFill>
              </a:defRPr>
            </a:lvl1pPr>
          </a:lstStyle>
          <a:p>
            <a:fld id="{B7C1F992-79A7-4CC2-A6FC-0436C7F8D8E7}" type="slidenum">
              <a:rPr lang="en-GB" smtClean="0"/>
              <a:t>‹#›</a:t>
            </a:fld>
            <a:endParaRPr lang="en-GB"/>
          </a:p>
        </p:txBody>
      </p:sp>
    </p:spTree>
    <p:extLst>
      <p:ext uri="{BB962C8B-B14F-4D97-AF65-F5344CB8AC3E}">
        <p14:creationId xmlns:p14="http://schemas.microsoft.com/office/powerpoint/2010/main" val="306467372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Lst>
  <p:txStyles>
    <p:titleStyle>
      <a:lvl1pPr algn="l" defTabSz="1603766" rtl="0" eaLnBrk="1" latinLnBrk="0" hangingPunct="1">
        <a:lnSpc>
          <a:spcPct val="90000"/>
        </a:lnSpc>
        <a:spcBef>
          <a:spcPct val="0"/>
        </a:spcBef>
        <a:buNone/>
        <a:defRPr sz="7717" kern="1200">
          <a:solidFill>
            <a:schemeClr val="tx1"/>
          </a:solidFill>
          <a:latin typeface="+mj-lt"/>
          <a:ea typeface="+mj-ea"/>
          <a:cs typeface="+mj-cs"/>
        </a:defRPr>
      </a:lvl1pPr>
    </p:titleStyle>
    <p:bodyStyle>
      <a:lvl1pPr marL="400942" indent="-400942" algn="l" defTabSz="1603766" rtl="0" eaLnBrk="1" latinLnBrk="0" hangingPunct="1">
        <a:lnSpc>
          <a:spcPct val="90000"/>
        </a:lnSpc>
        <a:spcBef>
          <a:spcPts val="1754"/>
        </a:spcBef>
        <a:buFont typeface="Arial" panose="020B0604020202020204" pitchFamily="34" charset="0"/>
        <a:buChar char="•"/>
        <a:defRPr sz="4911" kern="1200">
          <a:solidFill>
            <a:schemeClr val="tx1"/>
          </a:solidFill>
          <a:latin typeface="+mn-lt"/>
          <a:ea typeface="+mn-ea"/>
          <a:cs typeface="+mn-cs"/>
        </a:defRPr>
      </a:lvl1pPr>
      <a:lvl2pPr marL="1202825" indent="-400942" algn="l" defTabSz="1603766" rtl="0" eaLnBrk="1" latinLnBrk="0" hangingPunct="1">
        <a:lnSpc>
          <a:spcPct val="90000"/>
        </a:lnSpc>
        <a:spcBef>
          <a:spcPts val="877"/>
        </a:spcBef>
        <a:buFont typeface="Arial" panose="020B0604020202020204" pitchFamily="34" charset="0"/>
        <a:buChar char="•"/>
        <a:defRPr sz="4209" kern="1200">
          <a:solidFill>
            <a:schemeClr val="tx1"/>
          </a:solidFill>
          <a:latin typeface="+mn-lt"/>
          <a:ea typeface="+mn-ea"/>
          <a:cs typeface="+mn-cs"/>
        </a:defRPr>
      </a:lvl2pPr>
      <a:lvl3pPr marL="2004708" indent="-400942" algn="l" defTabSz="1603766" rtl="0" eaLnBrk="1" latinLnBrk="0" hangingPunct="1">
        <a:lnSpc>
          <a:spcPct val="90000"/>
        </a:lnSpc>
        <a:spcBef>
          <a:spcPts val="877"/>
        </a:spcBef>
        <a:buFont typeface="Arial" panose="020B0604020202020204" pitchFamily="34" charset="0"/>
        <a:buChar char="•"/>
        <a:defRPr sz="3508" kern="1200">
          <a:solidFill>
            <a:schemeClr val="tx1"/>
          </a:solidFill>
          <a:latin typeface="+mn-lt"/>
          <a:ea typeface="+mn-ea"/>
          <a:cs typeface="+mn-cs"/>
        </a:defRPr>
      </a:lvl3pPr>
      <a:lvl4pPr marL="2806591"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4pPr>
      <a:lvl5pPr marL="3608474"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5pPr>
      <a:lvl6pPr marL="4410357"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6pPr>
      <a:lvl7pPr marL="5212240"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7pPr>
      <a:lvl8pPr marL="6014123"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8pPr>
      <a:lvl9pPr marL="6816006"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9pPr>
    </p:bodyStyle>
    <p:otherStyle>
      <a:defPPr>
        <a:defRPr lang="en-US"/>
      </a:defPPr>
      <a:lvl1pPr marL="0" algn="l" defTabSz="1603766" rtl="0" eaLnBrk="1" latinLnBrk="0" hangingPunct="1">
        <a:defRPr sz="3157" kern="1200">
          <a:solidFill>
            <a:schemeClr val="tx1"/>
          </a:solidFill>
          <a:latin typeface="+mn-lt"/>
          <a:ea typeface="+mn-ea"/>
          <a:cs typeface="+mn-cs"/>
        </a:defRPr>
      </a:lvl1pPr>
      <a:lvl2pPr marL="801883" algn="l" defTabSz="1603766" rtl="0" eaLnBrk="1" latinLnBrk="0" hangingPunct="1">
        <a:defRPr sz="3157" kern="1200">
          <a:solidFill>
            <a:schemeClr val="tx1"/>
          </a:solidFill>
          <a:latin typeface="+mn-lt"/>
          <a:ea typeface="+mn-ea"/>
          <a:cs typeface="+mn-cs"/>
        </a:defRPr>
      </a:lvl2pPr>
      <a:lvl3pPr marL="1603766" algn="l" defTabSz="1603766" rtl="0" eaLnBrk="1" latinLnBrk="0" hangingPunct="1">
        <a:defRPr sz="3157" kern="1200">
          <a:solidFill>
            <a:schemeClr val="tx1"/>
          </a:solidFill>
          <a:latin typeface="+mn-lt"/>
          <a:ea typeface="+mn-ea"/>
          <a:cs typeface="+mn-cs"/>
        </a:defRPr>
      </a:lvl3pPr>
      <a:lvl4pPr marL="2405649" algn="l" defTabSz="1603766" rtl="0" eaLnBrk="1" latinLnBrk="0" hangingPunct="1">
        <a:defRPr sz="3157" kern="1200">
          <a:solidFill>
            <a:schemeClr val="tx1"/>
          </a:solidFill>
          <a:latin typeface="+mn-lt"/>
          <a:ea typeface="+mn-ea"/>
          <a:cs typeface="+mn-cs"/>
        </a:defRPr>
      </a:lvl4pPr>
      <a:lvl5pPr marL="3207532" algn="l" defTabSz="1603766" rtl="0" eaLnBrk="1" latinLnBrk="0" hangingPunct="1">
        <a:defRPr sz="3157" kern="1200">
          <a:solidFill>
            <a:schemeClr val="tx1"/>
          </a:solidFill>
          <a:latin typeface="+mn-lt"/>
          <a:ea typeface="+mn-ea"/>
          <a:cs typeface="+mn-cs"/>
        </a:defRPr>
      </a:lvl5pPr>
      <a:lvl6pPr marL="4009415" algn="l" defTabSz="1603766" rtl="0" eaLnBrk="1" latinLnBrk="0" hangingPunct="1">
        <a:defRPr sz="3157" kern="1200">
          <a:solidFill>
            <a:schemeClr val="tx1"/>
          </a:solidFill>
          <a:latin typeface="+mn-lt"/>
          <a:ea typeface="+mn-ea"/>
          <a:cs typeface="+mn-cs"/>
        </a:defRPr>
      </a:lvl6pPr>
      <a:lvl7pPr marL="4811298" algn="l" defTabSz="1603766" rtl="0" eaLnBrk="1" latinLnBrk="0" hangingPunct="1">
        <a:defRPr sz="3157" kern="1200">
          <a:solidFill>
            <a:schemeClr val="tx1"/>
          </a:solidFill>
          <a:latin typeface="+mn-lt"/>
          <a:ea typeface="+mn-ea"/>
          <a:cs typeface="+mn-cs"/>
        </a:defRPr>
      </a:lvl7pPr>
      <a:lvl8pPr marL="5613182" algn="l" defTabSz="1603766" rtl="0" eaLnBrk="1" latinLnBrk="0" hangingPunct="1">
        <a:defRPr sz="3157" kern="1200">
          <a:solidFill>
            <a:schemeClr val="tx1"/>
          </a:solidFill>
          <a:latin typeface="+mn-lt"/>
          <a:ea typeface="+mn-ea"/>
          <a:cs typeface="+mn-cs"/>
        </a:defRPr>
      </a:lvl8pPr>
      <a:lvl9pPr marL="6415065" algn="l" defTabSz="1603766" rtl="0" eaLnBrk="1" latinLnBrk="0" hangingPunct="1">
        <a:defRPr sz="31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5" name="Rectangle: Rounded Corners 44">
            <a:extLst>
              <a:ext uri="{FF2B5EF4-FFF2-40B4-BE49-F238E27FC236}">
                <a16:creationId xmlns:a16="http://schemas.microsoft.com/office/drawing/2014/main" id="{4763A920-50C0-2CA3-7F95-83106B143CB1}"/>
              </a:ext>
            </a:extLst>
          </p:cNvPr>
          <p:cNvSpPr/>
          <p:nvPr/>
        </p:nvSpPr>
        <p:spPr>
          <a:xfrm>
            <a:off x="10978646" y="23832754"/>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Discussion &amp; Future Work:</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Overall, this project successfully developed a system where detailed feedback and visualisations are generated to assist with a driver improving their lap times with a focus on cornering entry and exits.</a:t>
            </a:r>
          </a:p>
          <a:p>
            <a:r>
              <a:rPr lang="en-GB" sz="1600" dirty="0">
                <a:latin typeface="Calibri" panose="020F0502020204030204" pitchFamily="34" charset="0"/>
                <a:ea typeface="Calibri" panose="020F0502020204030204" pitchFamily="34" charset="0"/>
                <a:cs typeface="Calibri" panose="020F0502020204030204" pitchFamily="34" charset="0"/>
              </a:rPr>
              <a:t>The game model has the capacity to work with other sim-racing titles, such as Assetto Corsa or iRacing, with very little changes needed – the main adaptation </a:t>
            </a:r>
          </a:p>
          <a:p>
            <a:r>
              <a:rPr lang="en-GB" sz="1600" dirty="0">
                <a:latin typeface="Calibri" panose="020F0502020204030204" pitchFamily="34" charset="0"/>
                <a:ea typeface="Calibri" panose="020F0502020204030204" pitchFamily="34" charset="0"/>
                <a:cs typeface="Calibri" panose="020F0502020204030204" pitchFamily="34" charset="0"/>
              </a:rPr>
              <a:t>would be to create a different listener file, catering to the specific requirements of the game with different UDP packets. </a:t>
            </a: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While the historical model does work for generating advice for an existing lap by comparing all other laps for that track, there remain many inconsistencies and inaccuracies across the model. This could be improved with more accurate data, but this isn’t currently possible with what the FIA and Formula One make public.</a:t>
            </a: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Future work should aim on the following: </a:t>
            </a:r>
          </a:p>
          <a:p>
            <a:r>
              <a:rPr lang="en-GB" sz="1600" dirty="0">
                <a:latin typeface="Calibri" panose="020F0502020204030204" pitchFamily="34" charset="0"/>
                <a:ea typeface="Calibri" panose="020F0502020204030204" pitchFamily="34" charset="0"/>
                <a:cs typeface="Calibri" panose="020F0502020204030204" pitchFamily="34" charset="0"/>
              </a:rPr>
              <a:t>- Further enhancing the model for each of the games that it supports.</a:t>
            </a:r>
          </a:p>
          <a:p>
            <a:r>
              <a:rPr lang="en-GB" sz="1600" dirty="0">
                <a:latin typeface="Calibri" panose="020F0502020204030204" pitchFamily="34" charset="0"/>
                <a:ea typeface="Calibri" panose="020F0502020204030204" pitchFamily="34" charset="0"/>
                <a:cs typeface="Calibri" panose="020F0502020204030204" pitchFamily="34" charset="0"/>
              </a:rPr>
              <a:t>- Real-time feedback via Text To Speech (TTS).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Alternative modelling experimentation (such as Sequence Modelling).</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Suggested track improvement goals may be unattainable to newer players; incorporate AI lap difficulty into the model so users learn from laps closer to their skill level.</a:t>
            </a:r>
          </a:p>
          <a:p>
            <a:endParaRPr lang="en-GB" sz="1600" dirty="0">
              <a:latin typeface="Calibri" panose="020F0502020204030204" pitchFamily="34" charset="0"/>
              <a:ea typeface="Calibri" panose="020F0502020204030204" pitchFamily="34" charset="0"/>
              <a:cs typeface="Calibri" panose="020F0502020204030204" pitchFamily="34" charset="0"/>
            </a:endParaRPr>
          </a:p>
          <a:p>
            <a:pPr algn="ctr"/>
            <a:r>
              <a:rPr lang="en-GB" sz="1600" dirty="0">
                <a:latin typeface="Calibri" panose="020F0502020204030204" pitchFamily="34" charset="0"/>
                <a:ea typeface="Calibri" panose="020F0502020204030204" pitchFamily="34" charset="0"/>
                <a:cs typeface="Calibri" panose="020F0502020204030204" pitchFamily="34" charset="0"/>
              </a:rPr>
              <a:t>To view all code and files related to this project, please scan the QR Code below!</a:t>
            </a:r>
          </a:p>
        </p:txBody>
      </p:sp>
      <p:sp>
        <p:nvSpPr>
          <p:cNvPr id="48" name="Rectangle: Rounded Corners 47">
            <a:extLst>
              <a:ext uri="{FF2B5EF4-FFF2-40B4-BE49-F238E27FC236}">
                <a16:creationId xmlns:a16="http://schemas.microsoft.com/office/drawing/2014/main" id="{2A57AD61-35B5-3784-1311-F9D7D4A9B72D}"/>
              </a:ext>
            </a:extLst>
          </p:cNvPr>
          <p:cNvSpPr/>
          <p:nvPr/>
        </p:nvSpPr>
        <p:spPr>
          <a:xfrm>
            <a:off x="443217"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Data Points Visualised – F1 25 Circuits*:</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2" name="Rectangle: Rounded Corners 41">
            <a:extLst>
              <a:ext uri="{FF2B5EF4-FFF2-40B4-BE49-F238E27FC236}">
                <a16:creationId xmlns:a16="http://schemas.microsoft.com/office/drawing/2014/main" id="{1B2A54CB-0C2C-3886-72E2-464C7E336086}"/>
              </a:ext>
            </a:extLst>
          </p:cNvPr>
          <p:cNvSpPr/>
          <p:nvPr/>
        </p:nvSpPr>
        <p:spPr>
          <a:xfrm>
            <a:off x="443217" y="23832754"/>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In-Game Testing:</a:t>
            </a:r>
          </a:p>
          <a:p>
            <a:r>
              <a:rPr lang="en-GB" sz="1600" dirty="0">
                <a:latin typeface="Calibri" panose="020F0502020204030204" pitchFamily="34" charset="0"/>
                <a:ea typeface="Calibri" panose="020F0502020204030204" pitchFamily="34" charset="0"/>
                <a:cs typeface="Calibri" panose="020F0502020204030204" pitchFamily="34" charset="0"/>
              </a:rPr>
              <a:t>Using the detailed ground truth and advice feedback, a user can visualise in detail where on the track they should be applying the brakes, how long they should apply them for, and when they should get back on the throttle for every key braking zone on a track.</a:t>
            </a:r>
          </a:p>
          <a:p>
            <a:r>
              <a:rPr lang="en-GB" sz="1600" dirty="0">
                <a:latin typeface="Calibri" panose="020F0502020204030204" pitchFamily="34" charset="0"/>
                <a:ea typeface="Calibri" panose="020F0502020204030204" pitchFamily="34" charset="0"/>
                <a:cs typeface="Calibri" panose="020F0502020204030204" pitchFamily="34" charset="0"/>
              </a:rPr>
              <a:t>In each session, every lap is saved to a .csv file which can be read as a Pandas DataFrame, allowing the user to generate these visuals for any of the laps they’ve driven at any time, as well as retrieve comparisons between laps to see where time is lost or gained throughout.</a:t>
            </a:r>
          </a:p>
          <a:p>
            <a:r>
              <a:rPr lang="en-GB" sz="1600" dirty="0">
                <a:latin typeface="Calibri" panose="020F0502020204030204" pitchFamily="34" charset="0"/>
                <a:ea typeface="Calibri" panose="020F0502020204030204" pitchFamily="34" charset="0"/>
                <a:cs typeface="Calibri" panose="020F0502020204030204" pitchFamily="34" charset="0"/>
              </a:rPr>
              <a:t>While driving, if the user has already driven a lap that session, the overlay on-screen will assist them with reaching time improvements at set increments by letting them know their speed against their target speed, as well as alerting the user at each braking zone. A sound is played to the user to do this more easily, factoring in human reaction times to allow for training the braking zones at a high accuracy.</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6" name="Rectangle: Rounded Corners 45">
            <a:extLst>
              <a:ext uri="{FF2B5EF4-FFF2-40B4-BE49-F238E27FC236}">
                <a16:creationId xmlns:a16="http://schemas.microsoft.com/office/drawing/2014/main" id="{FCB0D5D0-BACD-3844-6C3C-63D2267AA785}"/>
              </a:ext>
            </a:extLst>
          </p:cNvPr>
          <p:cNvSpPr/>
          <p:nvPr/>
        </p:nvSpPr>
        <p:spPr>
          <a:xfrm>
            <a:off x="10978646" y="17657612"/>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endParaRPr lang="en-GB" sz="2400" b="1" dirty="0">
              <a:latin typeface="Calibri" panose="020F0502020204030204" pitchFamily="34" charset="0"/>
              <a:ea typeface="Calibri" panose="020F0502020204030204" pitchFamily="34" charset="0"/>
              <a:cs typeface="Calibri" panose="020F0502020204030204" pitchFamily="34" charset="0"/>
            </a:endParaRPr>
          </a:p>
          <a:p>
            <a:r>
              <a:rPr lang="en-GB" sz="2400" b="1" dirty="0">
                <a:latin typeface="Calibri" panose="020F0502020204030204" pitchFamily="34" charset="0"/>
                <a:ea typeface="Calibri" panose="020F0502020204030204" pitchFamily="34" charset="0"/>
                <a:cs typeface="Calibri" panose="020F0502020204030204" pitchFamily="34" charset="0"/>
              </a:rPr>
              <a:t>Feedback Generation:</a:t>
            </a:r>
          </a:p>
          <a:p>
            <a:r>
              <a:rPr lang="en-GB" sz="1600" dirty="0">
                <a:latin typeface="Calibri" panose="020F0502020204030204" pitchFamily="34" charset="0"/>
                <a:ea typeface="Calibri" panose="020F0502020204030204" pitchFamily="34" charset="0"/>
                <a:cs typeface="Calibri" panose="020F0502020204030204" pitchFamily="34" charset="0"/>
              </a:rPr>
              <a:t>Using the ground truth generated for each track in the datasets, I was able to generate advice for the user to make improvements on their next lap by gauging the braking zones from the lap they’ve driven.</a:t>
            </a:r>
          </a:p>
          <a:p>
            <a:r>
              <a:rPr lang="en-GB" sz="1600" dirty="0">
                <a:latin typeface="Calibri" panose="020F0502020204030204" pitchFamily="34" charset="0"/>
                <a:ea typeface="Calibri" panose="020F0502020204030204" pitchFamily="34" charset="0"/>
                <a:cs typeface="Calibri" panose="020F0502020204030204" pitchFamily="34" charset="0"/>
              </a:rPr>
              <a:t>Each braking zone is ranked in order of most time lost in that section of the track (beginning of current zone – beginning of next zone), allowing the user to focus on their biggest mistakes first.</a:t>
            </a:r>
          </a:p>
          <a:p>
            <a:r>
              <a:rPr lang="en-GB" sz="1600" dirty="0">
                <a:latin typeface="Calibri" panose="020F0502020204030204" pitchFamily="34" charset="0"/>
                <a:ea typeface="Calibri" panose="020F0502020204030204" pitchFamily="34" charset="0"/>
                <a:cs typeface="Calibri" panose="020F0502020204030204" pitchFamily="34" charset="0"/>
              </a:rPr>
              <a:t>Braking distance suggestions are modified based on the entry speed and the ground truth expected entry speed; if the user is slower than the ground truth in the entry to the corner, they can get away with braking slightly later than the expected braking mark.</a:t>
            </a:r>
          </a:p>
          <a:p>
            <a:r>
              <a:rPr lang="en-GB" sz="1600" dirty="0">
                <a:latin typeface="Calibri" panose="020F0502020204030204" pitchFamily="34" charset="0"/>
                <a:ea typeface="Calibri" panose="020F0502020204030204" pitchFamily="34" charset="0"/>
                <a:cs typeface="Calibri" panose="020F0502020204030204" pitchFamily="34" charset="0"/>
              </a:rPr>
              <a:t>These comparisons can be viewed by the user after their lap has concluded, or a simplified version is visible during the next lap via the on-screen overlay.</a:t>
            </a: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36" name="Rectangle: Rounded Corners 35">
            <a:extLst>
              <a:ext uri="{FF2B5EF4-FFF2-40B4-BE49-F238E27FC236}">
                <a16:creationId xmlns:a16="http://schemas.microsoft.com/office/drawing/2014/main" id="{06D4043B-6B0A-E807-297A-78F228CBBFA8}"/>
              </a:ext>
            </a:extLst>
          </p:cNvPr>
          <p:cNvSpPr/>
          <p:nvPr/>
        </p:nvSpPr>
        <p:spPr>
          <a:xfrm>
            <a:off x="10978646" y="3588017"/>
            <a:ext cx="9940715" cy="750822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Plots Generated from the F1 25 Game Model:</a:t>
            </a:r>
          </a:p>
          <a:p>
            <a:r>
              <a:rPr lang="en-GB" sz="1600" dirty="0">
                <a:latin typeface="Calibri" panose="020F0502020204030204" pitchFamily="34" charset="0"/>
                <a:ea typeface="Calibri" panose="020F0502020204030204" pitchFamily="34" charset="0"/>
                <a:cs typeface="Calibri" panose="020F0502020204030204" pitchFamily="34" charset="0"/>
              </a:rPr>
              <a:t>All graphs come directly from the game model’s outputs, using the ground truth data for each track on the Grand Prix calendar to produce accurate telemetric expectations for the fastest time trial run.</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D0B18B2F-2693-9936-E3AE-92F9902AC825}"/>
              </a:ext>
            </a:extLst>
          </p:cNvPr>
          <p:cNvSpPr/>
          <p:nvPr/>
        </p:nvSpPr>
        <p:spPr>
          <a:xfrm>
            <a:off x="1" y="0"/>
            <a:ext cx="21383624" cy="3425125"/>
          </a:xfrm>
          <a:prstGeom prst="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latin typeface="Calibri" panose="020F0502020204030204" pitchFamily="34" charset="0"/>
                <a:ea typeface="Calibri" panose="020F0502020204030204" pitchFamily="34" charset="0"/>
                <a:cs typeface="Calibri" panose="020F0502020204030204" pitchFamily="34" charset="0"/>
              </a:rPr>
              <a:t>Using Machine Learning to Understand and </a:t>
            </a:r>
            <a:br>
              <a:rPr lang="en-GB" sz="5400" b="1" dirty="0">
                <a:latin typeface="Calibri" panose="020F0502020204030204" pitchFamily="34" charset="0"/>
                <a:ea typeface="Calibri" panose="020F0502020204030204" pitchFamily="34" charset="0"/>
                <a:cs typeface="Calibri" panose="020F0502020204030204" pitchFamily="34" charset="0"/>
              </a:rPr>
            </a:br>
            <a:r>
              <a:rPr lang="en-GB" sz="5400" b="1" dirty="0">
                <a:latin typeface="Calibri" panose="020F0502020204030204" pitchFamily="34" charset="0"/>
                <a:ea typeface="Calibri" panose="020F0502020204030204" pitchFamily="34" charset="0"/>
                <a:cs typeface="Calibri" panose="020F0502020204030204" pitchFamily="34" charset="0"/>
              </a:rPr>
              <a:t>Enhance Racing Driver Cornering Performance</a:t>
            </a:r>
          </a:p>
          <a:p>
            <a:pPr algn="ctr"/>
            <a:r>
              <a:rPr lang="en-GB" sz="4400" b="1" dirty="0">
                <a:latin typeface="Calibri" panose="020F0502020204030204" pitchFamily="34" charset="0"/>
                <a:ea typeface="Calibri" panose="020F0502020204030204" pitchFamily="34" charset="0"/>
                <a:cs typeface="Calibri" panose="020F0502020204030204" pitchFamily="34" charset="0"/>
              </a:rPr>
              <a:t>Harry Gardner</a:t>
            </a:r>
            <a:br>
              <a:rPr lang="en-GB" sz="3600" b="1" dirty="0">
                <a:latin typeface="Calibri" panose="020F0502020204030204" pitchFamily="34" charset="0"/>
                <a:ea typeface="Calibri" panose="020F0502020204030204" pitchFamily="34" charset="0"/>
                <a:cs typeface="Calibri" panose="020F0502020204030204" pitchFamily="34" charset="0"/>
              </a:rPr>
            </a:br>
            <a:r>
              <a:rPr lang="en-GB" sz="2400" b="1" dirty="0">
                <a:latin typeface="Calibri" panose="020F0502020204030204" pitchFamily="34" charset="0"/>
                <a:ea typeface="Calibri" panose="020F0502020204030204" pitchFamily="34" charset="0"/>
                <a:cs typeface="Calibri" panose="020F0502020204030204" pitchFamily="34" charset="0"/>
              </a:rPr>
              <a:t>University of Exeter</a:t>
            </a:r>
          </a:p>
        </p:txBody>
      </p:sp>
      <p:pic>
        <p:nvPicPr>
          <p:cNvPr id="6" name="Picture 5">
            <a:extLst>
              <a:ext uri="{FF2B5EF4-FFF2-40B4-BE49-F238E27FC236}">
                <a16:creationId xmlns:a16="http://schemas.microsoft.com/office/drawing/2014/main" id="{21C537A7-EB83-DD53-2614-7B385D490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80698" y="27761572"/>
            <a:ext cx="1557449" cy="1557449"/>
          </a:xfrm>
          <a:prstGeom prst="rect">
            <a:avLst/>
          </a:prstGeom>
        </p:spPr>
      </p:pic>
      <p:sp>
        <p:nvSpPr>
          <p:cNvPr id="7" name="Rectangle: Rounded Corners 6">
            <a:extLst>
              <a:ext uri="{FF2B5EF4-FFF2-40B4-BE49-F238E27FC236}">
                <a16:creationId xmlns:a16="http://schemas.microsoft.com/office/drawing/2014/main" id="{0C12244C-1D8A-08C9-6231-ED3313AF83EC}"/>
              </a:ext>
            </a:extLst>
          </p:cNvPr>
          <p:cNvSpPr/>
          <p:nvPr/>
        </p:nvSpPr>
        <p:spPr>
          <a:xfrm>
            <a:off x="427845" y="3588017"/>
            <a:ext cx="9972463" cy="3337840"/>
          </a:xfrm>
          <a:prstGeom prst="roundRect">
            <a:avLst/>
          </a:prstGeom>
          <a:solidFill>
            <a:schemeClr val="bg1"/>
          </a:solidFill>
          <a:ln w="254000">
            <a:solidFill>
              <a:schemeClr val="tx2"/>
            </a:solidFill>
          </a:ln>
        </p:spPr>
        <p:style>
          <a:lnRef idx="1">
            <a:schemeClr val="accent4"/>
          </a:lnRef>
          <a:fillRef idx="3">
            <a:schemeClr val="accent4"/>
          </a:fillRef>
          <a:effectRef idx="2">
            <a:schemeClr val="accent4"/>
          </a:effectRef>
          <a:fontRef idx="minor">
            <a:schemeClr val="lt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Background &amp; Objectives:</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Improving and training the development and consistency of driver performance is crucial for a serious racing team; being able to reduce the human-factor variability of race results can elevate the team’s championship standings over the course of a full season through more consistent point-scoring opportunities. Helping the drivers to become more consistent in both real-life racing and sim racing settings by using the same tools, AI and ML can be utilised for drivers to be able to interpret and incorporate high level feedback without requiring an in-depth knowledge of the aerodynamics and logistics of the car beneath them.</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project aimed to build a ML system capable of extracting driving behaviour features from real Formula One race telemetry as well as sim racing video game telemetry to provide real-time feedback to drivers on how to improve their lap times, with a focus on improving cornering entry and exits.</a:t>
            </a:r>
            <a:endPar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14" name="Rectangle: Rounded Corners 13">
            <a:extLst>
              <a:ext uri="{FF2B5EF4-FFF2-40B4-BE49-F238E27FC236}">
                <a16:creationId xmlns:a16="http://schemas.microsoft.com/office/drawing/2014/main" id="{8E6298C8-913F-3313-A467-E69E9967C7E6}"/>
              </a:ext>
            </a:extLst>
          </p:cNvPr>
          <p:cNvSpPr/>
          <p:nvPr/>
        </p:nvSpPr>
        <p:spPr>
          <a:xfrm>
            <a:off x="443217" y="17657612"/>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endParaRPr lang="en-GB" sz="2400" b="1" dirty="0">
              <a:latin typeface="Calibri" panose="020F0502020204030204" pitchFamily="34" charset="0"/>
              <a:ea typeface="Calibri" panose="020F0502020204030204" pitchFamily="34" charset="0"/>
              <a:cs typeface="Calibri" panose="020F0502020204030204" pitchFamily="34" charset="0"/>
            </a:endParaRPr>
          </a:p>
          <a:p>
            <a:r>
              <a:rPr lang="en-GB" sz="2400" b="1" dirty="0">
                <a:latin typeface="Calibri" panose="020F0502020204030204" pitchFamily="34" charset="0"/>
                <a:ea typeface="Calibri" panose="020F0502020204030204" pitchFamily="34" charset="0"/>
                <a:cs typeface="Calibri" panose="020F0502020204030204" pitchFamily="34" charset="0"/>
              </a:rPr>
              <a:t> Model Results:</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2400" b="1"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Game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0.9853</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0.9872</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Vegas</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- 0.9761 / </a:t>
            </a:r>
          </a:p>
          <a:p>
            <a:r>
              <a:rPr lang="en-GB" sz="1600" b="1" dirty="0">
                <a:latin typeface="Calibri" panose="020F0502020204030204" pitchFamily="34" charset="0"/>
                <a:ea typeface="Calibri" panose="020F0502020204030204" pitchFamily="34" charset="0"/>
                <a:cs typeface="Calibri" panose="020F0502020204030204" pitchFamily="34" charset="0"/>
              </a:rPr>
              <a:t>                                  Abu Dhabi – 0.9753</a:t>
            </a:r>
            <a:br>
              <a:rPr lang="en-GB" sz="1600" dirty="0">
                <a:latin typeface="Calibri" panose="020F0502020204030204" pitchFamily="34" charset="0"/>
                <a:ea typeface="Calibri" panose="020F0502020204030204" pitchFamily="34" charset="0"/>
                <a:cs typeface="Calibri" panose="020F0502020204030204" pitchFamily="34" charset="0"/>
              </a:rPr>
            </a:b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 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0.9677</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0.9885</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Monaco – 0.9374 / 0.9606</a:t>
            </a:r>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 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MAE: </a:t>
            </a:r>
            <a:r>
              <a:rPr lang="en-GB" sz="1600" b="1" dirty="0">
                <a:latin typeface="Calibri" panose="020F0502020204030204" pitchFamily="34" charset="0"/>
                <a:ea typeface="Calibri" panose="020F0502020204030204" pitchFamily="34" charset="0"/>
                <a:cs typeface="Calibri" panose="020F0502020204030204" pitchFamily="34" charset="0"/>
              </a:rPr>
              <a:t>1.6968</a:t>
            </a: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 - Average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0.9984</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Miami – 1.3621 / </a:t>
            </a:r>
          </a:p>
          <a:p>
            <a:r>
              <a:rPr lang="en-GB" sz="1600" b="1" dirty="0">
                <a:latin typeface="Calibri" panose="020F0502020204030204" pitchFamily="34" charset="0"/>
                <a:ea typeface="Calibri" panose="020F0502020204030204" pitchFamily="34" charset="0"/>
                <a:cs typeface="Calibri" panose="020F0502020204030204" pitchFamily="34" charset="0"/>
              </a:rPr>
              <a:t>                                  Jeddah – 0.9964</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3" name="Rectangle: Rounded Corners 2">
            <a:extLst>
              <a:ext uri="{FF2B5EF4-FFF2-40B4-BE49-F238E27FC236}">
                <a16:creationId xmlns:a16="http://schemas.microsoft.com/office/drawing/2014/main" id="{F2935F09-33C9-CC38-97D3-73F5D052BE49}"/>
              </a:ext>
            </a:extLst>
          </p:cNvPr>
          <p:cNvSpPr/>
          <p:nvPr/>
        </p:nvSpPr>
        <p:spPr>
          <a:xfrm>
            <a:off x="427844" y="7275736"/>
            <a:ext cx="9972464" cy="3820505"/>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Data Collection &amp; Preprocessing:</a:t>
            </a:r>
            <a:b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Publicly available telemetric data from real Formula One races were accessed using the FastF1 Python library. From here, fast-lap qualifying data from events under dry conditions are taken to form the historical dataset.</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AI (CPU) qualifying data from the F1 25 game was harvested using Telemetry Tool by Iko Rein.</a:t>
            </a: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was run under conditions with equal performance across all cars, as well as exclusively time-fixed dry conditions to eliminate potential variability.</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Preprocessing was applied to all data collected. Historical throttle and braking values were binarised and temporally interpolated to every 0.05s (20hz). Game coordinates were realigned to match real-world values, with its throttle and braking values normalised to 0-1. The data were interpolated to match 5 metre track intervals, appropriate for the 20hz sample intervals, so that comparisons between laps had reliable accuracy. </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Data had the following columns: distance, x, y, z, norm_speed, speed, time, throttle, brake, gear, drs, rpm.</a:t>
            </a:r>
            <a:endPar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1" name="Group 10">
            <a:extLst>
              <a:ext uri="{FF2B5EF4-FFF2-40B4-BE49-F238E27FC236}">
                <a16:creationId xmlns:a16="http://schemas.microsoft.com/office/drawing/2014/main" id="{3BFB25DB-8FD1-81DD-DCF0-2F3EE7C54E67}"/>
              </a:ext>
            </a:extLst>
          </p:cNvPr>
          <p:cNvGrpSpPr/>
          <p:nvPr/>
        </p:nvGrpSpPr>
        <p:grpSpPr>
          <a:xfrm>
            <a:off x="11455577" y="5470306"/>
            <a:ext cx="4541593" cy="2353695"/>
            <a:chOff x="10801689" y="4065336"/>
            <a:chExt cx="6154818" cy="3362288"/>
          </a:xfrm>
        </p:grpSpPr>
        <p:pic>
          <p:nvPicPr>
            <p:cNvPr id="20" name="Picture 19">
              <a:extLst>
                <a:ext uri="{FF2B5EF4-FFF2-40B4-BE49-F238E27FC236}">
                  <a16:creationId xmlns:a16="http://schemas.microsoft.com/office/drawing/2014/main" id="{CFD3E36D-F382-F785-206B-D605246EFCD7}"/>
                </a:ext>
              </a:extLst>
            </p:cNvPr>
            <p:cNvPicPr>
              <a:picLocks noChangeAspect="1"/>
            </p:cNvPicPr>
            <p:nvPr/>
          </p:nvPicPr>
          <p:blipFill>
            <a:blip r:embed="rId3"/>
            <a:stretch>
              <a:fillRect/>
            </a:stretch>
          </p:blipFill>
          <p:spPr>
            <a:xfrm>
              <a:off x="10915879" y="4065336"/>
              <a:ext cx="5723940" cy="2578918"/>
            </a:xfrm>
            <a:prstGeom prst="rect">
              <a:avLst/>
            </a:prstGeom>
          </p:spPr>
        </p:pic>
        <p:sp>
          <p:nvSpPr>
            <p:cNvPr id="10" name="TextBox 9">
              <a:extLst>
                <a:ext uri="{FF2B5EF4-FFF2-40B4-BE49-F238E27FC236}">
                  <a16:creationId xmlns:a16="http://schemas.microsoft.com/office/drawing/2014/main" id="{CA9944B3-6E95-E157-44E2-27265B6D8B79}"/>
                </a:ext>
              </a:extLst>
            </p:cNvPr>
            <p:cNvSpPr txBox="1"/>
            <p:nvPr/>
          </p:nvSpPr>
          <p:spPr>
            <a:xfrm>
              <a:off x="10801689" y="6592264"/>
              <a:ext cx="6154818" cy="835360"/>
            </a:xfrm>
            <a:prstGeom prst="rect">
              <a:avLst/>
            </a:prstGeom>
            <a:noFill/>
          </p:spPr>
          <p:txBody>
            <a:bodyPr wrap="square" rtlCol="0">
              <a:spAutoFit/>
            </a:bodyPr>
            <a:lstStyle/>
            <a:p>
              <a:pPr algn="ctr"/>
              <a:r>
                <a:rPr lang="en-GB" sz="1600" b="1" dirty="0"/>
                <a:t>Figure 1: </a:t>
              </a:r>
              <a:r>
                <a:rPr lang="en-GB" sz="1600" dirty="0"/>
                <a:t>Curvature over Distance Plot for the Red Bull Ring (Austria).</a:t>
              </a:r>
              <a:endParaRPr lang="en-GB" sz="1600" b="1" dirty="0"/>
            </a:p>
          </p:txBody>
        </p:sp>
      </p:grpSp>
      <p:grpSp>
        <p:nvGrpSpPr>
          <p:cNvPr id="58" name="Group 57">
            <a:extLst>
              <a:ext uri="{FF2B5EF4-FFF2-40B4-BE49-F238E27FC236}">
                <a16:creationId xmlns:a16="http://schemas.microsoft.com/office/drawing/2014/main" id="{1E40D5FE-F233-ABBE-C0EC-35B6F162A1D6}"/>
              </a:ext>
            </a:extLst>
          </p:cNvPr>
          <p:cNvGrpSpPr/>
          <p:nvPr/>
        </p:nvGrpSpPr>
        <p:grpSpPr>
          <a:xfrm>
            <a:off x="11555912" y="7960402"/>
            <a:ext cx="3272793" cy="2527653"/>
            <a:chOff x="11555912" y="7960402"/>
            <a:chExt cx="3272793" cy="2527653"/>
          </a:xfrm>
        </p:grpSpPr>
        <p:grpSp>
          <p:nvGrpSpPr>
            <p:cNvPr id="15" name="Group 14">
              <a:extLst>
                <a:ext uri="{FF2B5EF4-FFF2-40B4-BE49-F238E27FC236}">
                  <a16:creationId xmlns:a16="http://schemas.microsoft.com/office/drawing/2014/main" id="{2C11DD64-CABE-CA55-55CE-448EDC0C8F4E}"/>
                </a:ext>
              </a:extLst>
            </p:cNvPr>
            <p:cNvGrpSpPr/>
            <p:nvPr/>
          </p:nvGrpSpPr>
          <p:grpSpPr>
            <a:xfrm>
              <a:off x="11955247" y="7960402"/>
              <a:ext cx="2145579" cy="1865545"/>
              <a:chOff x="11696440" y="7367696"/>
              <a:chExt cx="4153874" cy="2917987"/>
            </a:xfrm>
          </p:grpSpPr>
          <p:pic>
            <p:nvPicPr>
              <p:cNvPr id="16" name="Picture 15">
                <a:extLst>
                  <a:ext uri="{FF2B5EF4-FFF2-40B4-BE49-F238E27FC236}">
                    <a16:creationId xmlns:a16="http://schemas.microsoft.com/office/drawing/2014/main" id="{8C629B29-B49F-AE4D-B983-68DF8FC4E32E}"/>
                  </a:ext>
                </a:extLst>
              </p:cNvPr>
              <p:cNvPicPr>
                <a:picLocks noChangeAspect="1"/>
              </p:cNvPicPr>
              <p:nvPr/>
            </p:nvPicPr>
            <p:blipFill>
              <a:blip r:embed="rId4"/>
              <a:stretch>
                <a:fillRect/>
              </a:stretch>
            </p:blipFill>
            <p:spPr>
              <a:xfrm>
                <a:off x="11696440" y="7367696"/>
                <a:ext cx="1980337" cy="2916740"/>
              </a:xfrm>
              <a:prstGeom prst="rect">
                <a:avLst/>
              </a:prstGeom>
            </p:spPr>
          </p:pic>
          <p:pic>
            <p:nvPicPr>
              <p:cNvPr id="18" name="Picture 17">
                <a:extLst>
                  <a:ext uri="{FF2B5EF4-FFF2-40B4-BE49-F238E27FC236}">
                    <a16:creationId xmlns:a16="http://schemas.microsoft.com/office/drawing/2014/main" id="{4EAF249F-FBD2-2B79-F522-372ED78F52BC}"/>
                  </a:ext>
                </a:extLst>
              </p:cNvPr>
              <p:cNvPicPr>
                <a:picLocks noChangeAspect="1"/>
              </p:cNvPicPr>
              <p:nvPr/>
            </p:nvPicPr>
            <p:blipFill>
              <a:blip r:embed="rId5"/>
              <a:stretch>
                <a:fillRect/>
              </a:stretch>
            </p:blipFill>
            <p:spPr>
              <a:xfrm>
                <a:off x="14091411" y="7401793"/>
                <a:ext cx="1758903" cy="2883890"/>
              </a:xfrm>
              <a:prstGeom prst="rect">
                <a:avLst/>
              </a:prstGeom>
            </p:spPr>
          </p:pic>
        </p:grpSp>
        <p:sp>
          <p:nvSpPr>
            <p:cNvPr id="17" name="TextBox 16">
              <a:extLst>
                <a:ext uri="{FF2B5EF4-FFF2-40B4-BE49-F238E27FC236}">
                  <a16:creationId xmlns:a16="http://schemas.microsoft.com/office/drawing/2014/main" id="{8D17F905-2A11-8104-169A-6083B82773C8}"/>
                </a:ext>
              </a:extLst>
            </p:cNvPr>
            <p:cNvSpPr txBox="1"/>
            <p:nvPr/>
          </p:nvSpPr>
          <p:spPr>
            <a:xfrm>
              <a:off x="11555912" y="9903280"/>
              <a:ext cx="3272793" cy="584775"/>
            </a:xfrm>
            <a:prstGeom prst="rect">
              <a:avLst/>
            </a:prstGeom>
            <a:noFill/>
          </p:spPr>
          <p:txBody>
            <a:bodyPr wrap="square" rtlCol="0">
              <a:spAutoFit/>
            </a:bodyPr>
            <a:lstStyle/>
            <a:p>
              <a:pPr algn="ctr"/>
              <a:r>
                <a:rPr lang="en-GB" sz="1600" b="1" dirty="0"/>
                <a:t>Figures 3 &amp; 4: </a:t>
              </a:r>
              <a:r>
                <a:rPr lang="en-GB" sz="1600" dirty="0"/>
                <a:t>Car State and Speed plots for the Red Bull Ring (Austria).</a:t>
              </a:r>
              <a:endParaRPr lang="en-GB" sz="1600" b="1" dirty="0"/>
            </a:p>
          </p:txBody>
        </p:sp>
      </p:grpSp>
      <p:sp>
        <p:nvSpPr>
          <p:cNvPr id="47" name="Rectangle: Rounded Corners 46">
            <a:extLst>
              <a:ext uri="{FF2B5EF4-FFF2-40B4-BE49-F238E27FC236}">
                <a16:creationId xmlns:a16="http://schemas.microsoft.com/office/drawing/2014/main" id="{BEB09868-B3B9-7F72-E19F-60716C2E67D6}"/>
              </a:ext>
            </a:extLst>
          </p:cNvPr>
          <p:cNvSpPr/>
          <p:nvPr/>
        </p:nvSpPr>
        <p:spPr>
          <a:xfrm>
            <a:off x="10978646"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Model Training &amp; Optimisation:</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Game &amp; 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Classifier.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Classifies braking and throttle zone based on spatial telemetry (x, y, z coordinates) and track curvature (smoothed using look-ahead bands to predict future corners).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Labels dynamically generated by interpreting raw inputs against threshold values.</a:t>
            </a:r>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Regressor.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Models trained independently per track; enables the model to learn track-specific speed boundaries to a higher accuracy.</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GroupShuffleSplit used to prevent data leakage – distinct laps kept entirely in either training or testing set.</a:t>
            </a:r>
          </a:p>
          <a:p>
            <a:r>
              <a:rPr lang="en-GB" sz="1600" dirty="0">
                <a:latin typeface="Calibri" panose="020F0502020204030204" pitchFamily="34" charset="0"/>
                <a:ea typeface="Calibri" panose="020F0502020204030204" pitchFamily="34" charset="0"/>
                <a:cs typeface="Calibri" panose="020F0502020204030204" pitchFamily="34" charset="0"/>
              </a:rPr>
              <a:t>- Optimised by hyperparameter constraints on the depth and min/max samples and bootstrap limits.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MAE and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for evaluation.</a:t>
            </a:r>
          </a:p>
          <a:p>
            <a:r>
              <a:rPr lang="en-GB" sz="1600" b="1" dirty="0">
                <a:latin typeface="Calibri" panose="020F0502020204030204" pitchFamily="34" charset="0"/>
                <a:ea typeface="Calibri" panose="020F0502020204030204" pitchFamily="34" charset="0"/>
                <a:cs typeface="Calibri" panose="020F0502020204030204" pitchFamily="34" charset="0"/>
              </a:rPr>
              <a:t>Drawbacks - Historical Model:</a:t>
            </a:r>
          </a:p>
          <a:p>
            <a:r>
              <a:rPr lang="en-GB" sz="1600" dirty="0">
                <a:latin typeface="Calibri" panose="020F0502020204030204" pitchFamily="34" charset="0"/>
                <a:ea typeface="Calibri" panose="020F0502020204030204" pitchFamily="34" charset="0"/>
                <a:cs typeface="Calibri" panose="020F0502020204030204" pitchFamily="34" charset="0"/>
              </a:rPr>
              <a:t>- Historical data, even when interpolated, experiences data inaccuracies for braking zone sizes. The original FastF1 dataset, as well as all publicly available Formula One datasets, updates at a rate of only 4hz.</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Interpolating to 20hz means data is highly likely to contain inaccurate braking/throttling zones.</a:t>
            </a:r>
          </a:p>
          <a:p>
            <a:r>
              <a:rPr lang="en-GB" sz="1600" dirty="0">
                <a:latin typeface="Calibri" panose="020F0502020204030204" pitchFamily="34" charset="0"/>
                <a:ea typeface="Calibri" panose="020F0502020204030204" pitchFamily="34" charset="0"/>
                <a:cs typeface="Calibri" panose="020F0502020204030204" pitchFamily="34" charset="0"/>
              </a:rPr>
              <a:t>- This is further made difficult to rectify by braking values only being TRUE or FALSE in the original dataset, meaning no decimal values are able to be retrieved.</a:t>
            </a:r>
            <a:br>
              <a:rPr lang="en-GB" sz="2400" b="1" dirty="0">
                <a:latin typeface="Calibri" panose="020F0502020204030204" pitchFamily="34" charset="0"/>
                <a:ea typeface="Calibri" panose="020F0502020204030204" pitchFamily="34" charset="0"/>
                <a:cs typeface="Calibri" panose="020F0502020204030204" pitchFamily="34" charset="0"/>
              </a:rPr>
            </a:br>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grpSp>
        <p:nvGrpSpPr>
          <p:cNvPr id="5" name="Group 4">
            <a:extLst>
              <a:ext uri="{FF2B5EF4-FFF2-40B4-BE49-F238E27FC236}">
                <a16:creationId xmlns:a16="http://schemas.microsoft.com/office/drawing/2014/main" id="{3028E529-45B9-13BD-F434-F2378C5B856B}"/>
              </a:ext>
            </a:extLst>
          </p:cNvPr>
          <p:cNvGrpSpPr/>
          <p:nvPr/>
        </p:nvGrpSpPr>
        <p:grpSpPr>
          <a:xfrm>
            <a:off x="15997171" y="5365646"/>
            <a:ext cx="4524504" cy="2469577"/>
            <a:chOff x="11526900" y="6015640"/>
            <a:chExt cx="3844294" cy="2098303"/>
          </a:xfrm>
        </p:grpSpPr>
        <p:pic>
          <p:nvPicPr>
            <p:cNvPr id="22" name="Picture 21">
              <a:extLst>
                <a:ext uri="{FF2B5EF4-FFF2-40B4-BE49-F238E27FC236}">
                  <a16:creationId xmlns:a16="http://schemas.microsoft.com/office/drawing/2014/main" id="{1F60DBE7-CAD8-922C-A22A-F395D5F75435}"/>
                </a:ext>
              </a:extLst>
            </p:cNvPr>
            <p:cNvPicPr>
              <a:picLocks noChangeAspect="1"/>
            </p:cNvPicPr>
            <p:nvPr/>
          </p:nvPicPr>
          <p:blipFill>
            <a:blip r:embed="rId6"/>
            <a:stretch>
              <a:fillRect/>
            </a:stretch>
          </p:blipFill>
          <p:spPr>
            <a:xfrm>
              <a:off x="11526900" y="6015640"/>
              <a:ext cx="3575169" cy="1601443"/>
            </a:xfrm>
            <a:prstGeom prst="rect">
              <a:avLst/>
            </a:prstGeom>
          </p:spPr>
        </p:pic>
        <p:sp>
          <p:nvSpPr>
            <p:cNvPr id="2" name="TextBox 1">
              <a:extLst>
                <a:ext uri="{FF2B5EF4-FFF2-40B4-BE49-F238E27FC236}">
                  <a16:creationId xmlns:a16="http://schemas.microsoft.com/office/drawing/2014/main" id="{5EB8D625-8285-7085-DFAD-DFCBFFAEE137}"/>
                </a:ext>
              </a:extLst>
            </p:cNvPr>
            <p:cNvSpPr txBox="1"/>
            <p:nvPr/>
          </p:nvSpPr>
          <p:spPr>
            <a:xfrm>
              <a:off x="11526900" y="7617083"/>
              <a:ext cx="3844294" cy="496860"/>
            </a:xfrm>
            <a:prstGeom prst="rect">
              <a:avLst/>
            </a:prstGeom>
            <a:noFill/>
          </p:spPr>
          <p:txBody>
            <a:bodyPr wrap="square" rtlCol="0">
              <a:spAutoFit/>
            </a:bodyPr>
            <a:lstStyle/>
            <a:p>
              <a:pPr algn="ctr"/>
              <a:r>
                <a:rPr lang="en-GB" sz="1600" b="1" dirty="0"/>
                <a:t>Figure 2: </a:t>
              </a:r>
              <a:r>
                <a:rPr lang="en-GB" sz="1600" dirty="0"/>
                <a:t>Curvature vs Speed scatter plot for the Red Bull Ring (Austria).</a:t>
              </a:r>
              <a:endParaRPr lang="en-GB" sz="1600" b="1" dirty="0"/>
            </a:p>
          </p:txBody>
        </p:sp>
      </p:grpSp>
      <p:grpSp>
        <p:nvGrpSpPr>
          <p:cNvPr id="9" name="Group 8">
            <a:extLst>
              <a:ext uri="{FF2B5EF4-FFF2-40B4-BE49-F238E27FC236}">
                <a16:creationId xmlns:a16="http://schemas.microsoft.com/office/drawing/2014/main" id="{C5B06375-CECF-FC3C-1E6C-DE7FEB7B17E9}"/>
              </a:ext>
            </a:extLst>
          </p:cNvPr>
          <p:cNvGrpSpPr/>
          <p:nvPr/>
        </p:nvGrpSpPr>
        <p:grpSpPr>
          <a:xfrm>
            <a:off x="15080441" y="7879868"/>
            <a:ext cx="4758187" cy="2608187"/>
            <a:chOff x="15080441" y="6393968"/>
            <a:chExt cx="4758187" cy="2608187"/>
          </a:xfrm>
        </p:grpSpPr>
        <p:pic>
          <p:nvPicPr>
            <p:cNvPr id="24" name="Picture 23">
              <a:extLst>
                <a:ext uri="{FF2B5EF4-FFF2-40B4-BE49-F238E27FC236}">
                  <a16:creationId xmlns:a16="http://schemas.microsoft.com/office/drawing/2014/main" id="{36F8C087-00E0-D9B9-F42A-069442A99ABB}"/>
                </a:ext>
              </a:extLst>
            </p:cNvPr>
            <p:cNvPicPr>
              <a:picLocks noChangeAspect="1"/>
            </p:cNvPicPr>
            <p:nvPr/>
          </p:nvPicPr>
          <p:blipFill>
            <a:blip r:embed="rId7"/>
            <a:stretch>
              <a:fillRect/>
            </a:stretch>
          </p:blipFill>
          <p:spPr>
            <a:xfrm>
              <a:off x="15080441" y="6393968"/>
              <a:ext cx="4758187" cy="1946079"/>
            </a:xfrm>
            <a:prstGeom prst="rect">
              <a:avLst/>
            </a:prstGeom>
          </p:spPr>
        </p:pic>
        <p:sp>
          <p:nvSpPr>
            <p:cNvPr id="8" name="TextBox 7">
              <a:extLst>
                <a:ext uri="{FF2B5EF4-FFF2-40B4-BE49-F238E27FC236}">
                  <a16:creationId xmlns:a16="http://schemas.microsoft.com/office/drawing/2014/main" id="{654D291D-DACD-63FA-0982-80B444615460}"/>
                </a:ext>
              </a:extLst>
            </p:cNvPr>
            <p:cNvSpPr txBox="1"/>
            <p:nvPr/>
          </p:nvSpPr>
          <p:spPr>
            <a:xfrm>
              <a:off x="15183946" y="8417380"/>
              <a:ext cx="4524504" cy="584775"/>
            </a:xfrm>
            <a:prstGeom prst="rect">
              <a:avLst/>
            </a:prstGeom>
            <a:noFill/>
          </p:spPr>
          <p:txBody>
            <a:bodyPr wrap="square" rtlCol="0">
              <a:spAutoFit/>
            </a:bodyPr>
            <a:lstStyle/>
            <a:p>
              <a:pPr algn="ctr"/>
              <a:r>
                <a:rPr lang="en-GB" sz="1600" b="1" dirty="0"/>
                <a:t>Figure 5: </a:t>
              </a:r>
              <a:r>
                <a:rPr lang="en-GB" sz="1600" dirty="0"/>
                <a:t>Speed vs Distance scatter plot for the Red Bull Ring (Austria), coloured by curvature.</a:t>
              </a:r>
              <a:endParaRPr lang="en-GB" sz="1600" b="1" dirty="0"/>
            </a:p>
          </p:txBody>
        </p:sp>
      </p:grpSp>
      <p:sp>
        <p:nvSpPr>
          <p:cNvPr id="12" name="TextBox 11">
            <a:extLst>
              <a:ext uri="{FF2B5EF4-FFF2-40B4-BE49-F238E27FC236}">
                <a16:creationId xmlns:a16="http://schemas.microsoft.com/office/drawing/2014/main" id="{DDB27EA2-955E-B1DA-10A3-ADE175A4B347}"/>
              </a:ext>
            </a:extLst>
          </p:cNvPr>
          <p:cNvSpPr txBox="1"/>
          <p:nvPr/>
        </p:nvSpPr>
        <p:spPr>
          <a:xfrm>
            <a:off x="6442757" y="12362433"/>
            <a:ext cx="3272793" cy="4524315"/>
          </a:xfrm>
          <a:prstGeom prst="rect">
            <a:avLst/>
          </a:prstGeom>
          <a:noFill/>
        </p:spPr>
        <p:txBody>
          <a:bodyPr wrap="square" rtlCol="0">
            <a:spAutoFit/>
          </a:bodyPr>
          <a:lstStyle/>
          <a:p>
            <a:r>
              <a:rPr lang="en-GB" sz="1600" b="1" dirty="0"/>
              <a:t>Figure 6: </a:t>
            </a:r>
            <a:r>
              <a:rPr lang="en-GB" sz="1600" dirty="0"/>
              <a:t>3D scatter plot (constellation) of Speed vs Curvature vs Input (+1 = full throttle, -1 = full brake). Visualises expected inputs across top laps for tracks in the F1 25 game. Coloured by the gear the car is in at each given speed/curvature level.  </a:t>
            </a:r>
            <a:r>
              <a:rPr lang="en-GB" sz="1600" b="1" dirty="0"/>
              <a:t>634,232 data points </a:t>
            </a:r>
            <a:r>
              <a:rPr lang="en-GB" sz="1600" dirty="0"/>
              <a:t>(not all data)</a:t>
            </a:r>
            <a:r>
              <a:rPr lang="en-GB" sz="1600" b="1" dirty="0"/>
              <a:t>.</a:t>
            </a:r>
            <a:endParaRPr lang="en-GB" sz="1600" dirty="0"/>
          </a:p>
          <a:p>
            <a:r>
              <a:rPr lang="en-GB" sz="1600" b="1" dirty="0"/>
              <a:t>This helps visualise the average speeds at which the car is able to upshift and downshift, especially during and after taking a corner.</a:t>
            </a:r>
          </a:p>
          <a:p>
            <a:endParaRPr lang="en-GB" sz="1600" dirty="0"/>
          </a:p>
          <a:p>
            <a:r>
              <a:rPr lang="en-GB" sz="1600" dirty="0"/>
              <a:t>*Data from Monaco has been removed from this visual as it’s an outlier (slowest average speed track by a large margin).</a:t>
            </a:r>
          </a:p>
        </p:txBody>
      </p:sp>
      <p:pic>
        <p:nvPicPr>
          <p:cNvPr id="23" name="Picture 22">
            <a:extLst>
              <a:ext uri="{FF2B5EF4-FFF2-40B4-BE49-F238E27FC236}">
                <a16:creationId xmlns:a16="http://schemas.microsoft.com/office/drawing/2014/main" id="{A89F512C-2336-4139-69F9-FAC7CDD778FF}"/>
              </a:ext>
            </a:extLst>
          </p:cNvPr>
          <p:cNvPicPr>
            <a:picLocks noChangeAspect="1"/>
          </p:cNvPicPr>
          <p:nvPr/>
        </p:nvPicPr>
        <p:blipFill>
          <a:blip r:embed="rId8"/>
          <a:stretch>
            <a:fillRect/>
          </a:stretch>
        </p:blipFill>
        <p:spPr>
          <a:xfrm>
            <a:off x="1014101" y="12464471"/>
            <a:ext cx="5374776" cy="4620118"/>
          </a:xfrm>
          <a:prstGeom prst="rect">
            <a:avLst/>
          </a:prstGeom>
        </p:spPr>
      </p:pic>
      <p:sp>
        <p:nvSpPr>
          <p:cNvPr id="25" name="TextBox 24">
            <a:extLst>
              <a:ext uri="{FF2B5EF4-FFF2-40B4-BE49-F238E27FC236}">
                <a16:creationId xmlns:a16="http://schemas.microsoft.com/office/drawing/2014/main" id="{58516F5F-26F3-31F4-8811-328E234C34A9}"/>
              </a:ext>
            </a:extLst>
          </p:cNvPr>
          <p:cNvSpPr txBox="1"/>
          <p:nvPr/>
        </p:nvSpPr>
        <p:spPr>
          <a:xfrm>
            <a:off x="4972049" y="18252843"/>
            <a:ext cx="4900675" cy="5262979"/>
          </a:xfrm>
          <a:prstGeom prst="rect">
            <a:avLst/>
          </a:prstGeom>
          <a:noFill/>
        </p:spPr>
        <p:txBody>
          <a:bodyPr wrap="square" rtlCol="0">
            <a:spAutoFit/>
          </a:bodyPr>
          <a:lstStyle/>
          <a:p>
            <a:r>
              <a:rPr lang="en-GB" sz="1600" b="1" dirty="0">
                <a:latin typeface="Calibri" panose="020F0502020204030204" pitchFamily="34" charset="0"/>
                <a:ea typeface="Calibri" panose="020F0502020204030204" pitchFamily="34" charset="0"/>
                <a:cs typeface="Calibri" panose="020F0502020204030204" pitchFamily="34" charset="0"/>
              </a:rPr>
              <a:t>Comments:</a:t>
            </a:r>
          </a:p>
          <a:p>
            <a:r>
              <a:rPr lang="en-GB" sz="1600" dirty="0">
                <a:latin typeface="Calibri" panose="020F0502020204030204" pitchFamily="34" charset="0"/>
                <a:ea typeface="Calibri" panose="020F0502020204030204" pitchFamily="34" charset="0"/>
                <a:cs typeface="Calibri" panose="020F0502020204030204" pitchFamily="34" charset="0"/>
              </a:rPr>
              <a:t>The game model had overall more consistent accuracies across all tracks, as well as the brake and throttle accuracies being equal to 2 decimal places.</a:t>
            </a:r>
          </a:p>
          <a:p>
            <a:r>
              <a:rPr lang="en-GB" sz="1600" dirty="0">
                <a:latin typeface="Calibri" panose="020F0502020204030204" pitchFamily="34" charset="0"/>
                <a:ea typeface="Calibri" panose="020F0502020204030204" pitchFamily="34" charset="0"/>
                <a:cs typeface="Calibri" panose="020F0502020204030204" pitchFamily="34" charset="0"/>
              </a:rPr>
              <a:t>Vegas and Abu Dhabi having the lowest brake and throttle accuracies respectively is likely due to small inconsistencies in the data sample used – this can easily be improved by increasing the number of laps in the dataset.</a:t>
            </a:r>
          </a:p>
          <a:p>
            <a:r>
              <a:rPr lang="en-GB" sz="1600" dirty="0">
                <a:latin typeface="Calibri" panose="020F0502020204030204" pitchFamily="34" charset="0"/>
                <a:ea typeface="Calibri" panose="020F0502020204030204" pitchFamily="34" charset="0"/>
                <a:cs typeface="Calibri" panose="020F0502020204030204" pitchFamily="34" charset="0"/>
              </a:rPr>
              <a:t>The historical model’s brake accuracy is notably lower than its throttle accuracy and both accuracies from the game model – this is again due to braking values being exclusively TRUE or FALSE in the original datasets, while the games have normalised 0.0-1.0 values for exact input percentages.</a:t>
            </a:r>
          </a:p>
          <a:p>
            <a:r>
              <a:rPr lang="en-GB" sz="1600" dirty="0">
                <a:latin typeface="Calibri" panose="020F0502020204030204" pitchFamily="34" charset="0"/>
                <a:ea typeface="Calibri" panose="020F0502020204030204" pitchFamily="34" charset="0"/>
                <a:cs typeface="Calibri" panose="020F0502020204030204" pitchFamily="34" charset="0"/>
              </a:rPr>
              <a:t>For the speed model - the lower the MAE, the better: 1.6968 is a high performing score and can be improved further by growing the dataset.</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The closer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is to 1, the better the model fits: 0.9984 is an extremely high-fitting score.</a:t>
            </a:r>
          </a:p>
          <a:p>
            <a:endParaRPr lang="en-GB" sz="1600" dirty="0"/>
          </a:p>
        </p:txBody>
      </p:sp>
      <p:grpSp>
        <p:nvGrpSpPr>
          <p:cNvPr id="44" name="Group 43">
            <a:extLst>
              <a:ext uri="{FF2B5EF4-FFF2-40B4-BE49-F238E27FC236}">
                <a16:creationId xmlns:a16="http://schemas.microsoft.com/office/drawing/2014/main" id="{16777ECA-4C52-2728-264C-2BBDECEB341D}"/>
              </a:ext>
            </a:extLst>
          </p:cNvPr>
          <p:cNvGrpSpPr/>
          <p:nvPr/>
        </p:nvGrpSpPr>
        <p:grpSpPr>
          <a:xfrm>
            <a:off x="15893000" y="18444948"/>
            <a:ext cx="4541593" cy="1680522"/>
            <a:chOff x="15911237" y="18128030"/>
            <a:chExt cx="4541593" cy="1680522"/>
          </a:xfrm>
        </p:grpSpPr>
        <p:pic>
          <p:nvPicPr>
            <p:cNvPr id="32" name="Picture 31">
              <a:extLst>
                <a:ext uri="{FF2B5EF4-FFF2-40B4-BE49-F238E27FC236}">
                  <a16:creationId xmlns:a16="http://schemas.microsoft.com/office/drawing/2014/main" id="{BC717DAE-C207-8736-2A7B-427895C9F0E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106775" y="18128030"/>
              <a:ext cx="4146071" cy="1095747"/>
            </a:xfrm>
            <a:prstGeom prst="rect">
              <a:avLst/>
            </a:prstGeom>
          </p:spPr>
        </p:pic>
        <p:sp>
          <p:nvSpPr>
            <p:cNvPr id="41" name="TextBox 40">
              <a:extLst>
                <a:ext uri="{FF2B5EF4-FFF2-40B4-BE49-F238E27FC236}">
                  <a16:creationId xmlns:a16="http://schemas.microsoft.com/office/drawing/2014/main" id="{D484D10F-3CC3-7263-6CE3-EB79A91E7DDF}"/>
                </a:ext>
              </a:extLst>
            </p:cNvPr>
            <p:cNvSpPr txBox="1"/>
            <p:nvPr/>
          </p:nvSpPr>
          <p:spPr>
            <a:xfrm>
              <a:off x="15911237" y="19223777"/>
              <a:ext cx="4541593" cy="584775"/>
            </a:xfrm>
            <a:prstGeom prst="rect">
              <a:avLst/>
            </a:prstGeom>
            <a:noFill/>
          </p:spPr>
          <p:txBody>
            <a:bodyPr wrap="square" rtlCol="0">
              <a:spAutoFit/>
            </a:bodyPr>
            <a:lstStyle/>
            <a:p>
              <a:pPr algn="ctr"/>
              <a:r>
                <a:rPr lang="en-GB" sz="1600" b="1" dirty="0"/>
                <a:t>Figure 9: </a:t>
              </a:r>
              <a:r>
                <a:rPr lang="en-GB" sz="1600" dirty="0"/>
                <a:t>The top priority from advice generated for a user driven lap of the Red Bull Ring (Austria).</a:t>
              </a:r>
              <a:endParaRPr lang="en-GB" sz="1600" b="1" dirty="0"/>
            </a:p>
          </p:txBody>
        </p:sp>
      </p:grpSp>
      <p:grpSp>
        <p:nvGrpSpPr>
          <p:cNvPr id="49" name="Group 48">
            <a:extLst>
              <a:ext uri="{FF2B5EF4-FFF2-40B4-BE49-F238E27FC236}">
                <a16:creationId xmlns:a16="http://schemas.microsoft.com/office/drawing/2014/main" id="{9AB0AC1C-8708-96A2-A93A-23A57039FB6B}"/>
              </a:ext>
            </a:extLst>
          </p:cNvPr>
          <p:cNvGrpSpPr/>
          <p:nvPr/>
        </p:nvGrpSpPr>
        <p:grpSpPr>
          <a:xfrm>
            <a:off x="15938955" y="20307884"/>
            <a:ext cx="4541593" cy="2728103"/>
            <a:chOff x="15997170" y="19808552"/>
            <a:chExt cx="4541593" cy="2728103"/>
          </a:xfrm>
        </p:grpSpPr>
        <p:grpSp>
          <p:nvGrpSpPr>
            <p:cNvPr id="39" name="Group 38">
              <a:extLst>
                <a:ext uri="{FF2B5EF4-FFF2-40B4-BE49-F238E27FC236}">
                  <a16:creationId xmlns:a16="http://schemas.microsoft.com/office/drawing/2014/main" id="{9C2770AA-F465-4C61-E9E8-375598BC3E18}"/>
                </a:ext>
              </a:extLst>
            </p:cNvPr>
            <p:cNvGrpSpPr/>
            <p:nvPr/>
          </p:nvGrpSpPr>
          <p:grpSpPr>
            <a:xfrm>
              <a:off x="16075929" y="19808552"/>
              <a:ext cx="4207761" cy="1980501"/>
              <a:chOff x="15947496" y="19727734"/>
              <a:chExt cx="4355861" cy="2050208"/>
            </a:xfrm>
          </p:grpSpPr>
          <p:pic>
            <p:nvPicPr>
              <p:cNvPr id="34" name="Picture 33">
                <a:extLst>
                  <a:ext uri="{FF2B5EF4-FFF2-40B4-BE49-F238E27FC236}">
                    <a16:creationId xmlns:a16="http://schemas.microsoft.com/office/drawing/2014/main" id="{B64E9E19-503C-72DB-49BF-AF77C43B4A85}"/>
                  </a:ext>
                </a:extLst>
              </p:cNvPr>
              <p:cNvPicPr>
                <a:picLocks noChangeAspect="1"/>
              </p:cNvPicPr>
              <p:nvPr/>
            </p:nvPicPr>
            <p:blipFill>
              <a:blip r:embed="rId10"/>
              <a:stretch>
                <a:fillRect/>
              </a:stretch>
            </p:blipFill>
            <p:spPr>
              <a:xfrm>
                <a:off x="15947496" y="19730323"/>
                <a:ext cx="2224215" cy="2047619"/>
              </a:xfrm>
              <a:prstGeom prst="rect">
                <a:avLst/>
              </a:prstGeom>
            </p:spPr>
          </p:pic>
          <p:pic>
            <p:nvPicPr>
              <p:cNvPr id="37" name="Picture 36">
                <a:extLst>
                  <a:ext uri="{FF2B5EF4-FFF2-40B4-BE49-F238E27FC236}">
                    <a16:creationId xmlns:a16="http://schemas.microsoft.com/office/drawing/2014/main" id="{C3E02F4F-BB3B-37A5-AB52-DFB87A043B98}"/>
                  </a:ext>
                </a:extLst>
              </p:cNvPr>
              <p:cNvPicPr>
                <a:picLocks noChangeAspect="1"/>
              </p:cNvPicPr>
              <p:nvPr/>
            </p:nvPicPr>
            <p:blipFill>
              <a:blip r:embed="rId11"/>
              <a:stretch>
                <a:fillRect/>
              </a:stretch>
            </p:blipFill>
            <p:spPr>
              <a:xfrm>
                <a:off x="18171710" y="19727734"/>
                <a:ext cx="2131647" cy="2048973"/>
              </a:xfrm>
              <a:prstGeom prst="rect">
                <a:avLst/>
              </a:prstGeom>
            </p:spPr>
          </p:pic>
        </p:grpSp>
        <p:sp>
          <p:nvSpPr>
            <p:cNvPr id="43" name="TextBox 42">
              <a:extLst>
                <a:ext uri="{FF2B5EF4-FFF2-40B4-BE49-F238E27FC236}">
                  <a16:creationId xmlns:a16="http://schemas.microsoft.com/office/drawing/2014/main" id="{61C2FEA0-0B57-9EE2-CF8E-65BDA781C8FB}"/>
                </a:ext>
              </a:extLst>
            </p:cNvPr>
            <p:cNvSpPr txBox="1"/>
            <p:nvPr/>
          </p:nvSpPr>
          <p:spPr>
            <a:xfrm>
              <a:off x="15997170" y="21705658"/>
              <a:ext cx="4541593" cy="830997"/>
            </a:xfrm>
            <a:prstGeom prst="rect">
              <a:avLst/>
            </a:prstGeom>
            <a:noFill/>
          </p:spPr>
          <p:txBody>
            <a:bodyPr wrap="square" rtlCol="0">
              <a:spAutoFit/>
            </a:bodyPr>
            <a:lstStyle/>
            <a:p>
              <a:pPr algn="ctr"/>
              <a:r>
                <a:rPr lang="en-GB" sz="1600" b="1" dirty="0"/>
                <a:t>Figures 10 &amp; 11: </a:t>
              </a:r>
              <a:r>
                <a:rPr lang="en-GB" sz="1600" dirty="0"/>
                <a:t>The speed map comparison between the user driven lap and the ground truth lap correlating with the advice above.</a:t>
              </a:r>
              <a:endParaRPr lang="en-GB" sz="1600" b="1" dirty="0"/>
            </a:p>
          </p:txBody>
        </p:sp>
      </p:grpSp>
      <p:grpSp>
        <p:nvGrpSpPr>
          <p:cNvPr id="53" name="Group 52">
            <a:extLst>
              <a:ext uri="{FF2B5EF4-FFF2-40B4-BE49-F238E27FC236}">
                <a16:creationId xmlns:a16="http://schemas.microsoft.com/office/drawing/2014/main" id="{313CDCED-1B2A-D307-1E09-AAD8B374ED6E}"/>
              </a:ext>
            </a:extLst>
          </p:cNvPr>
          <p:cNvGrpSpPr/>
          <p:nvPr/>
        </p:nvGrpSpPr>
        <p:grpSpPr>
          <a:xfrm>
            <a:off x="5442536" y="24161994"/>
            <a:ext cx="4541593" cy="2561914"/>
            <a:chOff x="5009622" y="24620561"/>
            <a:chExt cx="4541593" cy="2561914"/>
          </a:xfrm>
        </p:grpSpPr>
        <p:pic>
          <p:nvPicPr>
            <p:cNvPr id="51" name="Picture 50">
              <a:extLst>
                <a:ext uri="{FF2B5EF4-FFF2-40B4-BE49-F238E27FC236}">
                  <a16:creationId xmlns:a16="http://schemas.microsoft.com/office/drawing/2014/main" id="{8818EF8A-BA3A-923C-6EE1-0504F4DA7E30}"/>
                </a:ext>
              </a:extLst>
            </p:cNvPr>
            <p:cNvPicPr>
              <a:picLocks noChangeAspect="1"/>
            </p:cNvPicPr>
            <p:nvPr/>
          </p:nvPicPr>
          <p:blipFill>
            <a:blip r:embed="rId12"/>
            <a:srcRect l="13002" t="11153" r="6748"/>
            <a:stretch>
              <a:fillRect/>
            </a:stretch>
          </p:blipFill>
          <p:spPr>
            <a:xfrm>
              <a:off x="5478548" y="24620561"/>
              <a:ext cx="3908333" cy="2066635"/>
            </a:xfrm>
            <a:prstGeom prst="rect">
              <a:avLst/>
            </a:prstGeom>
          </p:spPr>
        </p:pic>
        <p:sp>
          <p:nvSpPr>
            <p:cNvPr id="52" name="TextBox 51">
              <a:extLst>
                <a:ext uri="{FF2B5EF4-FFF2-40B4-BE49-F238E27FC236}">
                  <a16:creationId xmlns:a16="http://schemas.microsoft.com/office/drawing/2014/main" id="{66ED0E98-9E33-220E-2819-0F41F6D11C3E}"/>
                </a:ext>
              </a:extLst>
            </p:cNvPr>
            <p:cNvSpPr txBox="1"/>
            <p:nvPr/>
          </p:nvSpPr>
          <p:spPr>
            <a:xfrm>
              <a:off x="5009622" y="26597700"/>
              <a:ext cx="4541593" cy="584775"/>
            </a:xfrm>
            <a:prstGeom prst="rect">
              <a:avLst/>
            </a:prstGeom>
            <a:noFill/>
          </p:spPr>
          <p:txBody>
            <a:bodyPr wrap="square" rtlCol="0">
              <a:spAutoFit/>
            </a:bodyPr>
            <a:lstStyle/>
            <a:p>
              <a:pPr algn="ctr"/>
              <a:r>
                <a:rPr lang="en-GB" sz="1600" b="1" dirty="0"/>
                <a:t>Figure 12: </a:t>
              </a:r>
              <a:r>
                <a:rPr lang="en-GB" sz="1600" dirty="0"/>
                <a:t>3D Car State map for the Red Bull Ring (Austria), with the third braking zone entry details.</a:t>
              </a:r>
              <a:endParaRPr lang="en-GB" sz="1600" b="1" dirty="0"/>
            </a:p>
          </p:txBody>
        </p:sp>
      </p:grpSp>
      <p:grpSp>
        <p:nvGrpSpPr>
          <p:cNvPr id="57" name="Group 56">
            <a:extLst>
              <a:ext uri="{FF2B5EF4-FFF2-40B4-BE49-F238E27FC236}">
                <a16:creationId xmlns:a16="http://schemas.microsoft.com/office/drawing/2014/main" id="{BB472BF5-4137-818E-BFF4-C34A14F35135}"/>
              </a:ext>
            </a:extLst>
          </p:cNvPr>
          <p:cNvGrpSpPr/>
          <p:nvPr/>
        </p:nvGrpSpPr>
        <p:grpSpPr>
          <a:xfrm>
            <a:off x="5440811" y="26733511"/>
            <a:ext cx="4541593" cy="2753206"/>
            <a:chOff x="5161917" y="26796290"/>
            <a:chExt cx="4541593" cy="2753206"/>
          </a:xfrm>
        </p:grpSpPr>
        <p:pic>
          <p:nvPicPr>
            <p:cNvPr id="55" name="Picture 54">
              <a:extLst>
                <a:ext uri="{FF2B5EF4-FFF2-40B4-BE49-F238E27FC236}">
                  <a16:creationId xmlns:a16="http://schemas.microsoft.com/office/drawing/2014/main" id="{AC640CD1-2843-5AFE-465A-164A79EF7865}"/>
                </a:ext>
              </a:extLst>
            </p:cNvPr>
            <p:cNvPicPr>
              <a:picLocks noChangeAspect="1"/>
            </p:cNvPicPr>
            <p:nvPr/>
          </p:nvPicPr>
          <p:blipFill>
            <a:blip r:embed="rId13"/>
            <a:stretch>
              <a:fillRect/>
            </a:stretch>
          </p:blipFill>
          <p:spPr>
            <a:xfrm>
              <a:off x="5478548" y="26796290"/>
              <a:ext cx="3887675" cy="2186817"/>
            </a:xfrm>
            <a:prstGeom prst="rect">
              <a:avLst/>
            </a:prstGeom>
          </p:spPr>
        </p:pic>
        <p:sp>
          <p:nvSpPr>
            <p:cNvPr id="56" name="TextBox 55">
              <a:extLst>
                <a:ext uri="{FF2B5EF4-FFF2-40B4-BE49-F238E27FC236}">
                  <a16:creationId xmlns:a16="http://schemas.microsoft.com/office/drawing/2014/main" id="{68508920-49AA-E892-E727-5740F39F0E60}"/>
                </a:ext>
              </a:extLst>
            </p:cNvPr>
            <p:cNvSpPr txBox="1"/>
            <p:nvPr/>
          </p:nvSpPr>
          <p:spPr>
            <a:xfrm>
              <a:off x="5161917" y="28964721"/>
              <a:ext cx="4541593" cy="584775"/>
            </a:xfrm>
            <a:prstGeom prst="rect">
              <a:avLst/>
            </a:prstGeom>
            <a:noFill/>
          </p:spPr>
          <p:txBody>
            <a:bodyPr wrap="square" rtlCol="0">
              <a:spAutoFit/>
            </a:bodyPr>
            <a:lstStyle/>
            <a:p>
              <a:pPr algn="ctr"/>
              <a:r>
                <a:rPr lang="en-GB" sz="1600" b="1" dirty="0"/>
                <a:t>Figure 13: </a:t>
              </a:r>
              <a:r>
                <a:rPr lang="en-GB" sz="1600" dirty="0"/>
                <a:t>The third braking zone, visible in-game in F1 25.</a:t>
              </a:r>
              <a:endParaRPr lang="en-GB" sz="1600" b="1" dirty="0"/>
            </a:p>
          </p:txBody>
        </p:sp>
      </p:grpSp>
      <p:sp>
        <p:nvSpPr>
          <p:cNvPr id="59" name="TextBox 58">
            <a:extLst>
              <a:ext uri="{FF2B5EF4-FFF2-40B4-BE49-F238E27FC236}">
                <a16:creationId xmlns:a16="http://schemas.microsoft.com/office/drawing/2014/main" id="{298FE906-97BD-E55A-AF50-CD6A65EF9C00}"/>
              </a:ext>
            </a:extLst>
          </p:cNvPr>
          <p:cNvSpPr txBox="1"/>
          <p:nvPr/>
        </p:nvSpPr>
        <p:spPr>
          <a:xfrm>
            <a:off x="15830254" y="16309330"/>
            <a:ext cx="4541593" cy="830997"/>
          </a:xfrm>
          <a:prstGeom prst="rect">
            <a:avLst/>
          </a:prstGeom>
          <a:noFill/>
        </p:spPr>
        <p:txBody>
          <a:bodyPr wrap="square" rtlCol="0">
            <a:spAutoFit/>
          </a:bodyPr>
          <a:lstStyle/>
          <a:p>
            <a:pPr algn="ctr"/>
            <a:r>
              <a:rPr lang="en-GB" sz="1600" b="1" dirty="0"/>
              <a:t>Figures 7 &amp; 8: </a:t>
            </a:r>
            <a:r>
              <a:rPr lang="en-GB" sz="1600" dirty="0"/>
              <a:t>The car state map for Baku (Azerbaijan).Historical data (left);F1 25 game data (right). Highlights braking zone differences.</a:t>
            </a:r>
            <a:endParaRPr lang="en-GB" sz="1600" b="1" dirty="0"/>
          </a:p>
        </p:txBody>
      </p:sp>
      <p:grpSp>
        <p:nvGrpSpPr>
          <p:cNvPr id="66" name="Group 65">
            <a:extLst>
              <a:ext uri="{FF2B5EF4-FFF2-40B4-BE49-F238E27FC236}">
                <a16:creationId xmlns:a16="http://schemas.microsoft.com/office/drawing/2014/main" id="{A3B2E8DA-65F8-FA5B-6DD3-3D518D916427}"/>
              </a:ext>
            </a:extLst>
          </p:cNvPr>
          <p:cNvGrpSpPr/>
          <p:nvPr/>
        </p:nvGrpSpPr>
        <p:grpSpPr>
          <a:xfrm>
            <a:off x="16667907" y="14300766"/>
            <a:ext cx="2866285" cy="2042620"/>
            <a:chOff x="16843371" y="14279536"/>
            <a:chExt cx="2866285" cy="2042620"/>
          </a:xfrm>
        </p:grpSpPr>
        <p:pic>
          <p:nvPicPr>
            <p:cNvPr id="63" name="Picture 62">
              <a:extLst>
                <a:ext uri="{FF2B5EF4-FFF2-40B4-BE49-F238E27FC236}">
                  <a16:creationId xmlns:a16="http://schemas.microsoft.com/office/drawing/2014/main" id="{71DAB6B7-F693-649A-6D45-2C5F762141AF}"/>
                </a:ext>
              </a:extLst>
            </p:cNvPr>
            <p:cNvPicPr>
              <a:picLocks noChangeAspect="1"/>
            </p:cNvPicPr>
            <p:nvPr/>
          </p:nvPicPr>
          <p:blipFill>
            <a:blip r:embed="rId14"/>
            <a:stretch>
              <a:fillRect/>
            </a:stretch>
          </p:blipFill>
          <p:spPr>
            <a:xfrm>
              <a:off x="18203240" y="14279536"/>
              <a:ext cx="1506416" cy="1946622"/>
            </a:xfrm>
            <a:prstGeom prst="rect">
              <a:avLst/>
            </a:prstGeom>
          </p:spPr>
        </p:pic>
        <p:pic>
          <p:nvPicPr>
            <p:cNvPr id="65" name="Picture 64">
              <a:extLst>
                <a:ext uri="{FF2B5EF4-FFF2-40B4-BE49-F238E27FC236}">
                  <a16:creationId xmlns:a16="http://schemas.microsoft.com/office/drawing/2014/main" id="{3A2FD2CD-DFE0-5397-7436-06DB1B2E9FB2}"/>
                </a:ext>
              </a:extLst>
            </p:cNvPr>
            <p:cNvPicPr>
              <a:picLocks noChangeAspect="1"/>
            </p:cNvPicPr>
            <p:nvPr/>
          </p:nvPicPr>
          <p:blipFill>
            <a:blip r:embed="rId15"/>
            <a:srcRect l="3243" t="1921" r="3770" b="-1394"/>
            <a:stretch>
              <a:fillRect/>
            </a:stretch>
          </p:blipFill>
          <p:spPr>
            <a:xfrm rot="16200000">
              <a:off x="16553563" y="14574148"/>
              <a:ext cx="2037816" cy="1458199"/>
            </a:xfrm>
            <a:prstGeom prst="rect">
              <a:avLst/>
            </a:prstGeom>
          </p:spPr>
        </p:pic>
      </p:grpSp>
    </p:spTree>
    <p:extLst>
      <p:ext uri="{BB962C8B-B14F-4D97-AF65-F5344CB8AC3E}">
        <p14:creationId xmlns:p14="http://schemas.microsoft.com/office/powerpoint/2010/main" val="3293865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1118</TotalTime>
  <Words>1805</Words>
  <Application>Microsoft Office PowerPoint</Application>
  <PresentationFormat>Custom</PresentationFormat>
  <Paragraphs>109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Gardner, Harry</dc:creator>
  <cp:lastModifiedBy>Gardner, Harry</cp:lastModifiedBy>
  <cp:revision>30</cp:revision>
  <dcterms:created xsi:type="dcterms:W3CDTF">2026-03-24T21:26:23Z</dcterms:created>
  <dcterms:modified xsi:type="dcterms:W3CDTF">2026-03-31T16:49:23Z</dcterms:modified>
</cp:coreProperties>
</file>